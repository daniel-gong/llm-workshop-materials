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7" r:id="rId11"/>
    <p:sldId id="268" r:id="rId12"/>
    <p:sldId id="269" r:id="rId13"/>
    <p:sldId id="271" r:id="rId14"/>
    <p:sldId id="273" r:id="rId15"/>
    <p:sldId id="272" r:id="rId16"/>
    <p:sldId id="274" r:id="rId17"/>
    <p:sldId id="281" r:id="rId18"/>
    <p:sldId id="276" r:id="rId19"/>
    <p:sldId id="278" r:id="rId20"/>
    <p:sldId id="279" r:id="rId21"/>
    <p:sldId id="280" r:id="rId22"/>
    <p:sldId id="282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8"/>
  </p:normalViewPr>
  <p:slideViewPr>
    <p:cSldViewPr snapToGrid="0">
      <p:cViewPr>
        <p:scale>
          <a:sx n="110" d="100"/>
          <a:sy n="110" d="100"/>
        </p:scale>
        <p:origin x="5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172C-09B1-76BE-558A-F869AC120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0327D-0883-3CAA-754E-4B37133D2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B9B8E-E1FC-A249-9E7C-8F43C6F3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D8313-E61C-5B29-D397-640424EA2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BB310-90AF-417F-C664-C2A5AB4C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0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06B0-09F8-2A9B-8EAA-26EE4F27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D0CF1-8133-7050-B15D-4A75B4CEA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8AA77-CD9A-9326-4E67-69C579D7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F1726-FC9C-74E5-1C76-A6463839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DC12E-FEA4-AD83-8B49-247C549A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9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E4F4-297B-2F46-3406-CFC08B8B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7B50A-26CD-F03F-2B4E-E6A63F2E2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5678A-1A11-BEA1-FD79-1C26D9BD6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06A06-DE2F-6837-44E6-6F1734E2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01EC3-1771-09F9-AD5B-3728E4AF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15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49F0-7D31-A953-5A04-CD835A062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FFBAE-67B4-9D9E-3526-F457F3237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9AD67-73A1-ED6F-B990-F1222BCC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EB25B-CE50-196E-AF3E-89DEFF461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86F91-3117-177C-D570-1E135850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189F8-71D1-4A89-0B04-8F004060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9E19-24CE-B4D6-4267-8C053439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F3DA6-6B50-B512-300D-673A61030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ADCCA-1320-A697-9F1C-8967BB22B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AFB08-5F55-6300-A6A7-2DF308117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016E8-6D47-C89C-598C-AAAEC0E12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DD6E7C-278C-D602-BA24-4795C81C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F28FE-CA92-DA62-CA73-91DA6EDD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FF021-5B09-7135-EFF1-3924BBC8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8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E338C-9EB7-2C46-797D-A8714C9D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AEBC-0975-B28B-3C2E-7BF44D50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9700D-FA58-C69E-BEF5-8410A84C1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D9131-79AA-1520-3FBF-58B15F05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2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6CB7F-B9B4-C92B-ACA0-95763B2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FBF00F-14B4-748F-631A-C6FDFB1A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BA126-B262-F46B-3C87-75036AD7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5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1B61-9186-5F4D-6DA7-6CE23723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0A497-5CC6-EC9A-9CF0-A7A5FD73E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D7C08-6AD2-905E-CD23-D90BCC713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64F8F-148E-F80C-3618-55C3A332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35056-FA86-3DD0-9028-BD28CB40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1C35E-E210-97D3-0CE0-32436ABD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03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BC5D-0FE1-971F-363B-868EC4D9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33A0E-09E2-F2D8-8841-5F6B79FF9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342CA-E436-6EF0-705F-F5CC1CB16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24053-34B8-24B5-3722-735785BB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550BE-68DA-2751-8F32-3B3379A0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A9CD8-ED11-B4B7-5DFF-5CF32931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33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DB985-43D5-43B8-D80E-EF16DEBB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A8C81-E57D-D934-B2FB-0D51CD916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F0750-0BCF-9CCF-CFFC-3AB883FB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C38BF-A26C-A01C-7409-D6222501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0BBED-73D7-7A3D-A712-C37971B3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5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70A68-F82D-A6C9-7A1B-96BEE1B74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5ED9A-F6E3-DAF3-69E8-38DDF4D7F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60F65-45E6-AC4A-E9F3-D3657AC1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67365-991D-B4A8-3DB6-E7C4B03F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CD907-E021-8568-D25F-9CF96DE7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8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8E46A3-5A60-79CC-51D0-D854229C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1FFC4-73E6-141F-ED5A-89CFAF568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2A489-6DC1-E12C-D715-AD8320FAC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6AF5B-5DFA-8B4D-B0AE-A3FCAECF0DC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94082-7112-DC1F-C59A-1142D32E1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D31A7-BDB9-C056-3A70-35D063A51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30307-DF32-2B4D-A1A6-A790FE8DF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1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slide" Target="slide8.xml"/><Relationship Id="rId7" Type="http://schemas.openxmlformats.org/officeDocument/2006/relationships/slide" Target="slide2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11" Type="http://schemas.openxmlformats.org/officeDocument/2006/relationships/slide" Target="slide31.xml"/><Relationship Id="rId5" Type="http://schemas.openxmlformats.org/officeDocument/2006/relationships/slide" Target="slide16.xml"/><Relationship Id="rId10" Type="http://schemas.openxmlformats.org/officeDocument/2006/relationships/slide" Target="slide29.xml"/><Relationship Id="rId4" Type="http://schemas.openxmlformats.org/officeDocument/2006/relationships/slide" Target="slide13.xml"/><Relationship Id="rId9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sbt/LLMs-from-scratch/blob/main/ch02/01_main-chapter-code/ch02.ipynb" TargetMode="External"/><Relationship Id="rId2" Type="http://schemas.openxmlformats.org/officeDocument/2006/relationships/hyperlink" Target="https://www.manning.com/books/build-a-large-language-model-from-scratch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lab" TargetMode="External"/><Relationship Id="rId2" Type="http://schemas.openxmlformats.org/officeDocument/2006/relationships/hyperlink" Target="https://github.com/rasbt/LLMs-from-scratch/blob/main/requirements.tx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Wu Tsai Institute | Yale University">
            <a:extLst>
              <a:ext uri="{FF2B5EF4-FFF2-40B4-BE49-F238E27FC236}">
                <a16:creationId xmlns:a16="http://schemas.microsoft.com/office/drawing/2014/main" id="{C0891F14-215B-14C5-482A-4C413E449D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24" r="-1" b="-1"/>
          <a:stretch>
            <a:fillRect/>
          </a:stretch>
        </p:blipFill>
        <p:spPr bwMode="auto">
          <a:xfrm>
            <a:off x="-67512" y="-74428"/>
            <a:ext cx="12327022" cy="46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D4A3AB-2AAA-F2F8-8927-19855865A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9567" y="385499"/>
            <a:ext cx="9144000" cy="592354"/>
          </a:xfrm>
        </p:spPr>
        <p:txBody>
          <a:bodyPr>
            <a:noAutofit/>
          </a:bodyPr>
          <a:lstStyle/>
          <a:p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Building LLMs From Scratch: Workshop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90032-086D-9721-E74C-7AAD5D5F3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5217" y="3307987"/>
            <a:ext cx="9541565" cy="128451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Full-Stack AI Researcher (FAIR) Working Group</a:t>
            </a:r>
          </a:p>
          <a:p>
            <a:r>
              <a:rPr lang="en-US" sz="3200" dirty="0">
                <a:solidFill>
                  <a:schemeClr val="bg1"/>
                </a:solidFill>
              </a:rPr>
              <a:t>Spring 2026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3E239-3170-8A77-5D55-CD73AC292F0F}"/>
              </a:ext>
            </a:extLst>
          </p:cNvPr>
          <p:cNvSpPr txBox="1"/>
          <p:nvPr/>
        </p:nvSpPr>
        <p:spPr>
          <a:xfrm>
            <a:off x="218233" y="5272172"/>
            <a:ext cx="11209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llory Medium" panose="02010501030501020304" pitchFamily="2" charset="77"/>
                <a:cs typeface="Mallory Medium" panose="02010501030501020304" pitchFamily="2" charset="77"/>
              </a:rPr>
              <a:t>Center for Neurocomputation and Machine Intelligence</a:t>
            </a:r>
          </a:p>
          <a:p>
            <a:r>
              <a:rPr lang="en-US" sz="2400" dirty="0">
                <a:latin typeface="Mallory Medium" panose="02010501030501020304" pitchFamily="2" charset="77"/>
                <a:cs typeface="Mallory Medium" panose="02010501030501020304" pitchFamily="2" charset="77"/>
              </a:rPr>
              <a:t>Wu Tsai Institute</a:t>
            </a:r>
          </a:p>
          <a:p>
            <a:r>
              <a:rPr lang="en-US" sz="2400" dirty="0">
                <a:latin typeface="Mallory Medium" panose="02010501030501020304" pitchFamily="2" charset="77"/>
                <a:cs typeface="Mallory Medium" panose="02010501030501020304" pitchFamily="2" charset="77"/>
              </a:rPr>
              <a:t>Yale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0068A-63D9-D88A-637A-F9968C0ED8B3}"/>
              </a:ext>
            </a:extLst>
          </p:cNvPr>
          <p:cNvSpPr txBox="1"/>
          <p:nvPr/>
        </p:nvSpPr>
        <p:spPr>
          <a:xfrm>
            <a:off x="2945533" y="1721656"/>
            <a:ext cx="6152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Working with Text Data</a:t>
            </a:r>
          </a:p>
        </p:txBody>
      </p:sp>
    </p:spTree>
    <p:extLst>
      <p:ext uri="{BB962C8B-B14F-4D97-AF65-F5344CB8AC3E}">
        <p14:creationId xmlns:p14="http://schemas.microsoft.com/office/powerpoint/2010/main" val="133864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F916-4308-021F-3C04-8BAC21FF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92FD6-1FAE-1FBC-4A6A-6AB89EB18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 action="ppaction://hlinksldjump"/>
              </a:rPr>
              <a:t>Getting Started</a:t>
            </a:r>
            <a:r>
              <a:rPr lang="en-US" dirty="0"/>
              <a:t> (5 min.)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[2.1] </a:t>
            </a:r>
            <a:r>
              <a:rPr lang="en-US" dirty="0">
                <a:hlinkClick r:id="rId3" action="ppaction://hlinksldjump"/>
              </a:rPr>
              <a:t>Intro to Embeddings</a:t>
            </a:r>
            <a:r>
              <a:rPr lang="en-US" dirty="0"/>
              <a:t> (5 min.)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Tokenization (30 min.)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[2.2] </a:t>
            </a:r>
            <a:r>
              <a:rPr lang="en-US" dirty="0">
                <a:hlinkClick r:id="rId4" action="ppaction://hlinksldjump"/>
              </a:rPr>
              <a:t>Tokenization Basics</a:t>
            </a:r>
            <a:r>
              <a:rPr lang="en-US" dirty="0"/>
              <a:t> (10 min.)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[2.3] </a:t>
            </a:r>
            <a:r>
              <a:rPr lang="en-US" dirty="0">
                <a:hlinkClick r:id="rId5" action="ppaction://hlinksldjump"/>
              </a:rPr>
              <a:t>Token</a:t>
            </a:r>
            <a:r>
              <a:rPr lang="en-US" dirty="0">
                <a:hlinkClick r:id="rId6" action="ppaction://hlinksldjump"/>
              </a:rPr>
              <a:t> IDs</a:t>
            </a:r>
            <a:r>
              <a:rPr lang="en-US" dirty="0"/>
              <a:t> (10 min.)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[2.4] </a:t>
            </a:r>
            <a:r>
              <a:rPr lang="en-US" dirty="0">
                <a:hlinkClick r:id="rId7" action="ppaction://hlinksldjump"/>
              </a:rPr>
              <a:t>Special Tokens</a:t>
            </a:r>
            <a:r>
              <a:rPr lang="en-US" dirty="0"/>
              <a:t> (5 min.)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[2.5] </a:t>
            </a:r>
            <a:r>
              <a:rPr lang="en-US" dirty="0">
                <a:hlinkClick r:id="rId8" action="ppaction://hlinksldjump"/>
              </a:rPr>
              <a:t>Byte Pair Encoding</a:t>
            </a:r>
            <a:r>
              <a:rPr lang="en-US" dirty="0"/>
              <a:t> (5 min.)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[2.6] </a:t>
            </a:r>
            <a:r>
              <a:rPr lang="en-US" dirty="0">
                <a:hlinkClick r:id="rId9" action="ppaction://hlinksldjump"/>
              </a:rPr>
              <a:t>Sliding Window Data Loader</a:t>
            </a:r>
            <a:r>
              <a:rPr lang="en-US" dirty="0"/>
              <a:t> (15 min.)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Embedding Vectors (10 min.)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[2.7] </a:t>
            </a:r>
            <a:r>
              <a:rPr lang="en-US" dirty="0">
                <a:hlinkClick r:id="rId10" action="ppaction://hlinksldjump"/>
              </a:rPr>
              <a:t>Token Embeddings</a:t>
            </a:r>
            <a:r>
              <a:rPr lang="en-US" dirty="0"/>
              <a:t> (5 min.)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[2.8] </a:t>
            </a:r>
            <a:r>
              <a:rPr lang="en-US" dirty="0">
                <a:hlinkClick r:id="rId11" action="ppaction://hlinksldjump"/>
              </a:rPr>
              <a:t>Positional Embeddings</a:t>
            </a:r>
            <a:r>
              <a:rPr lang="en-US" dirty="0"/>
              <a:t> (5 min.)</a:t>
            </a:r>
          </a:p>
        </p:txBody>
      </p:sp>
    </p:spTree>
    <p:extLst>
      <p:ext uri="{BB962C8B-B14F-4D97-AF65-F5344CB8AC3E}">
        <p14:creationId xmlns:p14="http://schemas.microsoft.com/office/powerpoint/2010/main" val="3240578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DA13-CA05-30EF-8151-01916807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2FF41-9EC3-F6CE-4B23-3283F28B8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31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98DA-F51A-E341-BA94-23F71581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F640E-5364-D65F-42DB-6577DC35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workshop adapts Chapter 2 of </a:t>
            </a:r>
            <a:r>
              <a:rPr lang="en-US" dirty="0">
                <a:hlinkClick r:id="rId2"/>
              </a:rPr>
              <a:t>Build a Large Language Model (From Scratch) (Raschka 2024)</a:t>
            </a:r>
            <a:endParaRPr lang="en-US" dirty="0"/>
          </a:p>
          <a:p>
            <a:r>
              <a:rPr lang="en-US" dirty="0"/>
              <a:t>Access the reference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en-US" dirty="0">
                <a:hlinkClick r:id="rId3"/>
              </a:rPr>
              <a:t>here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other contents of the 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ch02</a:t>
            </a:r>
            <a:r>
              <a:rPr lang="en-US" dirty="0"/>
              <a:t> folder are available as supplementary learning for your own enrichment.</a:t>
            </a:r>
          </a:p>
          <a:p>
            <a:r>
              <a:rPr lang="en-US" dirty="0"/>
              <a:t>We will be running this Notebook directly, but I encourage you to make modifications to experiment with your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331164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1D9C-DE84-0B9E-E884-A57A231B6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Setup: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77269-CC5C-C69F-F91A-CCF0BF85A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Activate your virtual environment from last workshop:</a:t>
            </a:r>
          </a:p>
          <a:p>
            <a:pPr lvl="1"/>
            <a:r>
              <a:rPr lang="en-US" dirty="0"/>
              <a:t>Conda: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conda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activate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llms-venv</a:t>
            </a:r>
            <a:endParaRPr lang="en-US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/>
              <a:t>venv</a:t>
            </a:r>
            <a:r>
              <a:rPr lang="en-US" dirty="0"/>
              <a:t>: 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source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llms-venv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/bin/activate</a:t>
            </a:r>
            <a:r>
              <a:rPr lang="en-US" dirty="0">
                <a:latin typeface="Aptos" panose="020B0004020202020204" pitchFamily="34" charset="0"/>
                <a:cs typeface="Courier New" panose="02070309020205020404" pitchFamily="49" charset="0"/>
              </a:rPr>
              <a:t> </a:t>
            </a:r>
            <a:r>
              <a:rPr lang="en-US" dirty="0"/>
              <a:t>(Mac/Linux)</a:t>
            </a:r>
          </a:p>
          <a:p>
            <a:pPr lvl="1"/>
            <a:r>
              <a:rPr lang="en-US" dirty="0" err="1"/>
              <a:t>venv</a:t>
            </a:r>
            <a:r>
              <a:rPr lang="en-US" dirty="0"/>
              <a:t>: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llms-venv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\Scripts\activate</a:t>
            </a:r>
            <a:r>
              <a:rPr lang="en-US" dirty="0"/>
              <a:t> (Windows)</a:t>
            </a:r>
          </a:p>
          <a:p>
            <a:r>
              <a:rPr lang="en-US" dirty="0"/>
              <a:t>Then install dependencies (CHOOSE ONE):</a:t>
            </a:r>
          </a:p>
          <a:p>
            <a:pPr lvl="1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jupyterlab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torch==2.5.1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tiktoken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en-US" dirty="0"/>
              <a:t>pip lets you install multiple packages at once</a:t>
            </a:r>
          </a:p>
          <a:p>
            <a:pPr lvl="2"/>
            <a:r>
              <a:rPr lang="en-US" dirty="0"/>
              <a:t>Apparently newer versions of </a:t>
            </a:r>
            <a:r>
              <a:rPr lang="en-US" dirty="0" err="1"/>
              <a:t>PyTorch</a:t>
            </a:r>
            <a:r>
              <a:rPr lang="en-US" dirty="0"/>
              <a:t> on Macs don’t work for this repo</a:t>
            </a:r>
          </a:p>
          <a:p>
            <a:pPr lvl="1"/>
            <a:r>
              <a:rPr lang="en-US" dirty="0"/>
              <a:t>Alternatively, download </a:t>
            </a:r>
            <a:r>
              <a:rPr lang="en-US" dirty="0">
                <a:hlinkClick r:id="rId2"/>
              </a:rPr>
              <a:t>requirements.txt </a:t>
            </a:r>
            <a:r>
              <a:rPr lang="en-US" dirty="0"/>
              <a:t>from GitHub and run 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–r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requirements.txt</a:t>
            </a:r>
            <a:r>
              <a:rPr lang="en-US" dirty="0"/>
              <a:t> to download all packages for the entire series</a:t>
            </a:r>
          </a:p>
          <a:p>
            <a:r>
              <a:rPr lang="en-US" dirty="0"/>
              <a:t>Once </a:t>
            </a:r>
            <a:r>
              <a:rPr lang="en-US" dirty="0" err="1"/>
              <a:t>jupyterlab</a:t>
            </a:r>
            <a:r>
              <a:rPr lang="en-US" dirty="0"/>
              <a:t> is installed, you can start it by typing 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2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lab</a:t>
            </a:r>
            <a:r>
              <a:rPr lang="en-US" dirty="0"/>
              <a:t>. This should start the web server, which you can access via </a:t>
            </a:r>
            <a:r>
              <a:rPr lang="en-US" dirty="0">
                <a:hlinkClick r:id="rId3"/>
              </a:rPr>
              <a:t>http://localhost:8888/lab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870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C8860-62AE-4621-DDA2-1A06B12D3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C70B5-593B-CF42-8533-7FB46892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Setup: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EF014-8D44-7E9F-C799-1007E58A7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 is a way to interactively run Python code.</a:t>
            </a:r>
          </a:p>
          <a:p>
            <a:r>
              <a:rPr lang="en-US" dirty="0"/>
              <a:t>Supports plain text, Markdown, and code cells..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8619A5-1D42-E6AB-1C29-AA890C3AF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070" y="2918197"/>
            <a:ext cx="7772400" cy="31712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F970B2-BE75-1097-7608-69764363369F}"/>
              </a:ext>
            </a:extLst>
          </p:cNvPr>
          <p:cNvSpPr/>
          <p:nvPr/>
        </p:nvSpPr>
        <p:spPr>
          <a:xfrm>
            <a:off x="838200" y="2923061"/>
            <a:ext cx="1342417" cy="549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new cell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991E76-692A-9C93-7137-A1E5F7B836E2}"/>
              </a:ext>
            </a:extLst>
          </p:cNvPr>
          <p:cNvCxnSpPr>
            <a:stCxn id="9" idx="3"/>
          </p:cNvCxnSpPr>
          <p:nvPr/>
        </p:nvCxnSpPr>
        <p:spPr>
          <a:xfrm>
            <a:off x="2180617" y="3197868"/>
            <a:ext cx="960120" cy="1387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7049ABF-CF5B-815C-3B8D-58C26BE91C66}"/>
              </a:ext>
            </a:extLst>
          </p:cNvPr>
          <p:cNvSpPr/>
          <p:nvPr/>
        </p:nvSpPr>
        <p:spPr>
          <a:xfrm>
            <a:off x="9122923" y="2600866"/>
            <a:ext cx="2735094" cy="549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 between code &amp; Markdown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B4EBA4-8EA4-F5C1-0B4E-AC68CA64218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375670" y="2875673"/>
            <a:ext cx="2747253" cy="4609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24A80B-E501-25E1-1C95-4029F2339D95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10243226" y="3429000"/>
            <a:ext cx="464901" cy="4367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5F8777E-F74A-A372-8DD3-B505E9EE323E}"/>
              </a:ext>
            </a:extLst>
          </p:cNvPr>
          <p:cNvSpPr/>
          <p:nvPr/>
        </p:nvSpPr>
        <p:spPr>
          <a:xfrm>
            <a:off x="10708127" y="3197867"/>
            <a:ext cx="942368" cy="549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 kernel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1CAFD3-8229-2864-6519-9BBD026CC6DB}"/>
              </a:ext>
            </a:extLst>
          </p:cNvPr>
          <p:cNvSpPr/>
          <p:nvPr/>
        </p:nvSpPr>
        <p:spPr>
          <a:xfrm>
            <a:off x="838200" y="3747480"/>
            <a:ext cx="1506166" cy="549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Double click to edit cell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1F04CB-D5C2-AD3E-F1AA-148E1723B034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2344366" y="3883568"/>
            <a:ext cx="1245140" cy="1387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85F4449-2915-A3F2-C5FD-92E9C3BFCC33}"/>
              </a:ext>
            </a:extLst>
          </p:cNvPr>
          <p:cNvSpPr/>
          <p:nvPr/>
        </p:nvSpPr>
        <p:spPr>
          <a:xfrm>
            <a:off x="838200" y="4944998"/>
            <a:ext cx="1506166" cy="5496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Shift click to run cell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ED0A64-7043-7E11-BA4E-FC0C9BD25C49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344366" y="5219805"/>
            <a:ext cx="1167319" cy="2492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57204D9-9118-3AC9-0D3B-94C28DE589CF}"/>
              </a:ext>
            </a:extLst>
          </p:cNvPr>
          <p:cNvSpPr/>
          <p:nvPr/>
        </p:nvSpPr>
        <p:spPr>
          <a:xfrm>
            <a:off x="5033253" y="2783259"/>
            <a:ext cx="2354094" cy="3271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Restart &amp; Run all cells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C995D5E-E2E6-0A4F-D0D3-482D206EAB07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5301574" y="3110386"/>
            <a:ext cx="908726" cy="22620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083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F313A-E8D9-5A26-9BFF-B20DDC0D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341F-9ACF-324A-34E2-02D6609F3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Setup: </a:t>
            </a:r>
            <a:r>
              <a:rPr lang="en-US" dirty="0" err="1"/>
              <a:t>Jupyter</a:t>
            </a:r>
            <a:r>
              <a:rPr lang="en-US" dirty="0"/>
              <a:t> Kernels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CEBDB-E46F-D789-8B3F-3273631AA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the first cell produce an error? This means the notebook cannot “see” the dependencies you installed.</a:t>
            </a:r>
          </a:p>
          <a:p>
            <a:r>
              <a:rPr lang="en-US" dirty="0"/>
              <a:t>You can fix this by registering your </a:t>
            </a:r>
            <a:r>
              <a:rPr lang="en-US" dirty="0" err="1"/>
              <a:t>venv</a:t>
            </a:r>
            <a:r>
              <a:rPr lang="en-US" dirty="0"/>
              <a:t> as a kernel.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ipykernel</a:t>
            </a:r>
            <a:endParaRPr lang="en-US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ipykernel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install --user --name </a:t>
            </a:r>
            <a:r>
              <a:rPr lang="en-US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llms</a:t>
            </a:r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-env --display-name ”Building LLMs From Scratch”</a:t>
            </a:r>
          </a:p>
          <a:p>
            <a:r>
              <a:rPr lang="en-US" dirty="0"/>
              <a:t>Restart </a:t>
            </a:r>
            <a:r>
              <a:rPr lang="en-US" dirty="0" err="1"/>
              <a:t>Jupyter</a:t>
            </a:r>
            <a:r>
              <a:rPr lang="en-US" dirty="0"/>
              <a:t> Lab (File&gt;Shut Down on localhost, then run </a:t>
            </a:r>
            <a:r>
              <a:rPr lang="en-US" sz="24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jupyter</a:t>
            </a:r>
            <a:r>
              <a:rPr lang="en-US" sz="2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lab</a:t>
            </a:r>
            <a:r>
              <a:rPr lang="en-US" dirty="0"/>
              <a:t> again)</a:t>
            </a:r>
          </a:p>
          <a:p>
            <a:r>
              <a:rPr lang="en-US" dirty="0"/>
              <a:t>Then on the top right, change the kernel to your new kernel. Now the first cell should run. You are good to go!</a:t>
            </a:r>
          </a:p>
        </p:txBody>
      </p:sp>
    </p:spTree>
    <p:extLst>
      <p:ext uri="{BB962C8B-B14F-4D97-AF65-F5344CB8AC3E}">
        <p14:creationId xmlns:p14="http://schemas.microsoft.com/office/powerpoint/2010/main" val="2569544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E15A-7B4E-F817-E500-2DBCBFD2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Embeddings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3B813-A0EB-9B1E-30C0-4C3539E77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Machines Work With Natural Language</a:t>
            </a:r>
          </a:p>
        </p:txBody>
      </p:sp>
    </p:spTree>
    <p:extLst>
      <p:ext uri="{BB962C8B-B14F-4D97-AF65-F5344CB8AC3E}">
        <p14:creationId xmlns:p14="http://schemas.microsoft.com/office/powerpoint/2010/main" val="1691957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242A4-28CD-B4E0-83BD-1D86CC4C4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28B4CB-6DEB-878E-C81A-A6929CCE2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204" y="1500424"/>
            <a:ext cx="8463591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DDF6D5-F1B7-FBCD-FA8D-F98B0D3806CD}"/>
              </a:ext>
            </a:extLst>
          </p:cNvPr>
          <p:cNvSpPr txBox="1"/>
          <p:nvPr/>
        </p:nvSpPr>
        <p:spPr>
          <a:xfrm>
            <a:off x="1118681" y="5661498"/>
            <a:ext cx="201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(Source: Textbook)</a:t>
            </a:r>
          </a:p>
        </p:txBody>
      </p:sp>
    </p:spTree>
    <p:extLst>
      <p:ext uri="{BB962C8B-B14F-4D97-AF65-F5344CB8AC3E}">
        <p14:creationId xmlns:p14="http://schemas.microsoft.com/office/powerpoint/2010/main" val="359005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FB4B-0310-B3C7-4A5C-953239EC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Neural Nets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9FF7-A5D6-B91F-433E-76AE1C90E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models like neural networks deal with </a:t>
            </a:r>
            <a:r>
              <a:rPr lang="en-US" b="1" dirty="0"/>
              <a:t>numbers </a:t>
            </a:r>
            <a:r>
              <a:rPr lang="en-US" dirty="0"/>
              <a:t>grouped together into </a:t>
            </a:r>
            <a:r>
              <a:rPr lang="en-US" i="1" dirty="0"/>
              <a:t>vectors</a:t>
            </a:r>
            <a:r>
              <a:rPr lang="en-US" dirty="0"/>
              <a:t>. Given some input numbers, it will transform them in complex ways to get output numbers.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need to get our natural-language text into a numerical form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8A079C1D-E3A6-6840-8AF1-1FC93D342EDB}"/>
              </a:ext>
            </a:extLst>
          </p:cNvPr>
          <p:cNvSpPr/>
          <p:nvPr/>
        </p:nvSpPr>
        <p:spPr>
          <a:xfrm>
            <a:off x="3326013" y="3929974"/>
            <a:ext cx="5330757" cy="55447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B9AF6F-F30B-BD9B-2B0C-65BB60AB5C37}"/>
              </a:ext>
            </a:extLst>
          </p:cNvPr>
          <p:cNvSpPr/>
          <p:nvPr/>
        </p:nvSpPr>
        <p:spPr>
          <a:xfrm>
            <a:off x="4299766" y="3518592"/>
            <a:ext cx="3339547" cy="1470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7AC039-9B2F-DB6C-A116-088E6A6361D6}"/>
              </a:ext>
            </a:extLst>
          </p:cNvPr>
          <p:cNvSpPr/>
          <p:nvPr/>
        </p:nvSpPr>
        <p:spPr>
          <a:xfrm>
            <a:off x="1833663" y="3278221"/>
            <a:ext cx="1050587" cy="2075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Input:</a:t>
            </a: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49AD26-57B7-1E48-A073-1D1DD986CB3A}"/>
                  </a:ext>
                </a:extLst>
              </p:cNvPr>
              <p:cNvSpPr txBox="1"/>
              <p:nvPr/>
            </p:nvSpPr>
            <p:spPr>
              <a:xfrm>
                <a:off x="1167319" y="3615558"/>
                <a:ext cx="2383276" cy="1737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1.3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−0.4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−0.1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49AD26-57B7-1E48-A073-1D1DD986C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19" y="3615558"/>
                <a:ext cx="2383276" cy="1737783"/>
              </a:xfrm>
              <a:prstGeom prst="rect">
                <a:avLst/>
              </a:prstGeom>
              <a:blipFill>
                <a:blip r:embed="rId2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0415769B-CC14-D997-C6CE-569C1BCBD5CF}"/>
              </a:ext>
            </a:extLst>
          </p:cNvPr>
          <p:cNvSpPr/>
          <p:nvPr/>
        </p:nvSpPr>
        <p:spPr>
          <a:xfrm>
            <a:off x="9026528" y="3278221"/>
            <a:ext cx="1050587" cy="2075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Output:</a:t>
            </a: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  <a:p>
            <a:pPr algn="ctr"/>
            <a:endParaRPr lang="en-US" u="sng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4C9972-3297-7779-3EC0-358DCE647E85}"/>
                  </a:ext>
                </a:extLst>
              </p:cNvPr>
              <p:cNvSpPr txBox="1"/>
              <p:nvPr/>
            </p:nvSpPr>
            <p:spPr>
              <a:xfrm>
                <a:off x="8360184" y="3615558"/>
                <a:ext cx="2383276" cy="1769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2.8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1.5</m:t>
                                    </m:r>
                                  </m: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1.9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C4C9972-3297-7779-3EC0-358DCE647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184" y="3615558"/>
                <a:ext cx="2383276" cy="1769652"/>
              </a:xfrm>
              <a:prstGeom prst="rect">
                <a:avLst/>
              </a:prstGeom>
              <a:blipFill>
                <a:blip r:embed="rId3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FA2D8A3-1B9B-4987-1FC6-878E277823A0}"/>
              </a:ext>
            </a:extLst>
          </p:cNvPr>
          <p:cNvSpPr txBox="1"/>
          <p:nvPr/>
        </p:nvSpPr>
        <p:spPr>
          <a:xfrm>
            <a:off x="8132323" y="290435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(not necessarily same shape)</a:t>
            </a:r>
          </a:p>
        </p:txBody>
      </p:sp>
    </p:spTree>
    <p:extLst>
      <p:ext uri="{BB962C8B-B14F-4D97-AF65-F5344CB8AC3E}">
        <p14:creationId xmlns:p14="http://schemas.microsoft.com/office/powerpoint/2010/main" val="419730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0D24-441E-4260-6306-110B6172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8F080-F99C-5360-2DC8-7F4F9CE5A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taking something non-numeric like text, image, video, or audio, and representing it as a collection of numbers, is called </a:t>
            </a:r>
            <a:r>
              <a:rPr lang="en-US" b="1" dirty="0"/>
              <a:t>embedding</a:t>
            </a:r>
            <a:r>
              <a:rPr lang="en-US" dirty="0"/>
              <a:t> (as we </a:t>
            </a:r>
            <a:r>
              <a:rPr lang="en-US" i="1" dirty="0"/>
              <a:t>embed</a:t>
            </a:r>
            <a:r>
              <a:rPr lang="en-US" dirty="0"/>
              <a:t> them into a numerical vector space)</a:t>
            </a:r>
          </a:p>
          <a:p>
            <a:r>
              <a:rPr lang="en-US" dirty="0"/>
              <a:t>LLMs work with </a:t>
            </a:r>
            <a:r>
              <a:rPr lang="en-US" i="1" dirty="0"/>
              <a:t>word embeddings</a:t>
            </a:r>
            <a:r>
              <a:rPr lang="en-US" dirty="0"/>
              <a:t>: each word/token is mapped to a vector, and a document is an ordered list of words.</a:t>
            </a:r>
          </a:p>
          <a:p>
            <a:r>
              <a:rPr lang="en-US" dirty="0"/>
              <a:t>For other use cases, you could also generate embeddings for characters, sentences, or paragraphs.</a:t>
            </a:r>
          </a:p>
        </p:txBody>
      </p:sp>
    </p:spTree>
    <p:extLst>
      <p:ext uri="{BB962C8B-B14F-4D97-AF65-F5344CB8AC3E}">
        <p14:creationId xmlns:p14="http://schemas.microsoft.com/office/powerpoint/2010/main" val="1534232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B8B0-2CC8-0177-A509-DB8BAD3CF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99094-5F67-918A-7AA7-E9C7CE0CB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embeddings try to encode semantic data</a:t>
            </a:r>
          </a:p>
          <a:p>
            <a:pPr lvl="1"/>
            <a:r>
              <a:rPr lang="en-US" dirty="0"/>
              <a:t>Relationships: king – man = queen – woman</a:t>
            </a:r>
          </a:p>
          <a:p>
            <a:pPr lvl="1"/>
            <a:r>
              <a:rPr lang="en-US" dirty="0"/>
              <a:t>Groupings: synonyms may have similar embeddings</a:t>
            </a:r>
          </a:p>
          <a:p>
            <a:r>
              <a:rPr lang="en-US" dirty="0"/>
              <a:t>These embeddings usually have high dimension (hundreds, thousands, or more)</a:t>
            </a:r>
          </a:p>
          <a:p>
            <a:r>
              <a:rPr lang="en-US" dirty="0"/>
              <a:t>Can generate with pretrained embedding models like word2vec, but for more accuracy for specific use cases, many language models train their own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642A6-4C0B-E506-7ABD-B74D66F0A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077" y="485608"/>
            <a:ext cx="3726923" cy="26800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78190D-0745-2680-D20F-D46153B1A762}"/>
              </a:ext>
            </a:extLst>
          </p:cNvPr>
          <p:cNvSpPr txBox="1"/>
          <p:nvPr/>
        </p:nvSpPr>
        <p:spPr>
          <a:xfrm>
            <a:off x="8311063" y="504288"/>
            <a:ext cx="201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(Source: Textbook)</a:t>
            </a:r>
          </a:p>
        </p:txBody>
      </p:sp>
    </p:spTree>
    <p:extLst>
      <p:ext uri="{BB962C8B-B14F-4D97-AF65-F5344CB8AC3E}">
        <p14:creationId xmlns:p14="http://schemas.microsoft.com/office/powerpoint/2010/main" val="2733662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3E392-3E22-968E-37F2-9ABFCB34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Tokenization?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D677B-0D7C-7E12-7ECD-6C07B5C9D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Tokenization</a:t>
            </a:r>
            <a:r>
              <a:rPr lang="en-US" dirty="0"/>
              <a:t> is the process of splitting a large section of text into </a:t>
            </a:r>
            <a:r>
              <a:rPr lang="en-US" i="1" dirty="0"/>
              <a:t>tokens</a:t>
            </a:r>
            <a:r>
              <a:rPr lang="en-US" dirty="0"/>
              <a:t>.</a:t>
            </a:r>
          </a:p>
          <a:p>
            <a:r>
              <a:rPr lang="en-US" dirty="0"/>
              <a:t>Each token maps to a single embedding.</a:t>
            </a:r>
          </a:p>
          <a:p>
            <a:r>
              <a:rPr lang="en-US" dirty="0"/>
              <a:t>There are different algorithms to tokenize text</a:t>
            </a:r>
          </a:p>
          <a:p>
            <a:pPr lvl="1"/>
            <a:r>
              <a:rPr lang="en-US" dirty="0"/>
              <a:t>Most LLMs define tokens by identifying common character sequences. This is called Byte Pair Encoding, and we will explore it later (sec. 2.5)</a:t>
            </a:r>
          </a:p>
          <a:p>
            <a:pPr lvl="1"/>
            <a:r>
              <a:rPr lang="en-US" dirty="0"/>
              <a:t>We will start by isolating words and punctuation marks.</a:t>
            </a:r>
          </a:p>
        </p:txBody>
      </p:sp>
    </p:spTree>
    <p:extLst>
      <p:ext uri="{BB962C8B-B14F-4D97-AF65-F5344CB8AC3E}">
        <p14:creationId xmlns:p14="http://schemas.microsoft.com/office/powerpoint/2010/main" val="2383319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9178-7311-5CB9-D78F-2522723A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313543"/>
          </a:xfrm>
        </p:spPr>
        <p:txBody>
          <a:bodyPr/>
          <a:lstStyle/>
          <a:p>
            <a:r>
              <a:rPr lang="en-US" dirty="0"/>
              <a:t>Tokenization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9EC59-7F40-C0CE-EE0F-EC5CFB671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ChatGPT’s tokenizer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https://platform.openai.com/tokenizer</a:t>
            </a:r>
            <a:r>
              <a:rPr lang="en-US" dirty="0"/>
              <a:t> </a:t>
            </a:r>
          </a:p>
        </p:txBody>
      </p:sp>
      <p:pic>
        <p:nvPicPr>
          <p:cNvPr id="20" name="Picture Placeholder 19" descr="A screenshot of a chat&#10;&#10;AI-generated content may be incorrect.">
            <a:extLst>
              <a:ext uri="{FF2B5EF4-FFF2-40B4-BE49-F238E27FC236}">
                <a16:creationId xmlns:a16="http://schemas.microsoft.com/office/drawing/2014/main" id="{6345522F-9387-BAD1-1B3A-92C9FC8AD4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-26" t="163" b="-163"/>
          <a:stretch>
            <a:fillRect/>
          </a:stretch>
        </p:blipFill>
        <p:spPr>
          <a:xfrm>
            <a:off x="5180012" y="995363"/>
            <a:ext cx="6172200" cy="4873625"/>
          </a:xfrm>
        </p:spPr>
      </p:pic>
    </p:spTree>
    <p:extLst>
      <p:ext uri="{BB962C8B-B14F-4D97-AF65-F5344CB8AC3E}">
        <p14:creationId xmlns:p14="http://schemas.microsoft.com/office/powerpoint/2010/main" val="2955717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E074-2073-5324-4F86-F768E947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(5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157EF-CE41-1D9D-54A5-4D09588C6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6900" cy="4351338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[Work on section 2.2 of the notebook]</a:t>
            </a:r>
          </a:p>
          <a:p>
            <a:r>
              <a:rPr lang="en-US" dirty="0"/>
              <a:t>We will use Python’s </a:t>
            </a:r>
            <a:r>
              <a:rPr lang="en-US" i="1" dirty="0"/>
              <a:t>regular expressions </a:t>
            </a:r>
            <a:r>
              <a:rPr lang="en-US" dirty="0"/>
              <a:t>to tokenize our input text, “The Verdict” by Edith Wharton.</a:t>
            </a:r>
          </a:p>
          <a:p>
            <a:pPr lvl="1"/>
            <a:r>
              <a:rPr lang="en-US" dirty="0"/>
              <a:t>Regular expressions (regex) are a very powerful tool for parsing text.</a:t>
            </a:r>
          </a:p>
          <a:p>
            <a:pPr lvl="1"/>
            <a:r>
              <a:rPr lang="en-US" dirty="0"/>
              <a:t>You give the regex engine a specification of a pattern, as a string in Python’s regular expression syntax.  </a:t>
            </a:r>
          </a:p>
          <a:p>
            <a:pPr lvl="1"/>
            <a:r>
              <a:rPr lang="en-US" dirty="0"/>
              <a:t>We will use the split functionality to split over certain characters.</a:t>
            </a:r>
          </a:p>
          <a:p>
            <a:r>
              <a:rPr lang="en-US" dirty="0"/>
              <a:t>Because whitespace and punctuation are semantically important, they should remain in the tokenization.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“Once upon a time…” 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-&gt; [“Once”, “␣”, “upon”, “␣”, “a”, “␣”, “time”, “…”]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503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6BF3-C812-7718-B708-AE3C7A88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Vocabularies and Token 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9E01C-F4F9-B0C6-E09B-0DC63CEFD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vocabulary</a:t>
            </a:r>
            <a:r>
              <a:rPr lang="en-US" dirty="0"/>
              <a:t> contains all tokens you can possibly see in the dataset.</a:t>
            </a:r>
          </a:p>
          <a:p>
            <a:r>
              <a:rPr lang="en-US" dirty="0"/>
              <a:t>Each token in the vocabulary maps to a unique ID.</a:t>
            </a:r>
          </a:p>
          <a:p>
            <a:r>
              <a:rPr lang="en-US" dirty="0"/>
              <a:t>If we store the embeddings for all tokens in an array or matrix, then use ID to identify the specific embedding.</a:t>
            </a:r>
          </a:p>
        </p:txBody>
      </p:sp>
    </p:spTree>
    <p:extLst>
      <p:ext uri="{BB962C8B-B14F-4D97-AF65-F5344CB8AC3E}">
        <p14:creationId xmlns:p14="http://schemas.microsoft.com/office/powerpoint/2010/main" val="1931429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5B57D-6DB7-1043-97D7-3560D84E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AACD-D696-4EFA-3F20-A4AD6066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199"/>
            <a:ext cx="3932237" cy="1313543"/>
          </a:xfrm>
        </p:spPr>
        <p:txBody>
          <a:bodyPr>
            <a:normAutofit/>
          </a:bodyPr>
          <a:lstStyle/>
          <a:p>
            <a:r>
              <a:rPr lang="en-US" dirty="0"/>
              <a:t>Token IDs from Vocab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04A15-16D5-8ECF-A563-0728FA50C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Note: Eventually we will want 2 data structures, one for each direction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String -&gt; ID (process input)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ID -&gt; String (produce output)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099C6C0-56A4-CC58-CD6B-996806A192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181" r="-51"/>
          <a:stretch>
            <a:fillRect/>
          </a:stretch>
        </p:blipFill>
        <p:spPr>
          <a:xfrm>
            <a:off x="5183188" y="987425"/>
            <a:ext cx="6172200" cy="4873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151078-469F-BBB1-6411-6A10828D65A3}"/>
              </a:ext>
            </a:extLst>
          </p:cNvPr>
          <p:cNvSpPr txBox="1"/>
          <p:nvPr/>
        </p:nvSpPr>
        <p:spPr>
          <a:xfrm>
            <a:off x="4078525" y="6241018"/>
            <a:ext cx="201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(Source: Textbook)</a:t>
            </a:r>
          </a:p>
        </p:txBody>
      </p:sp>
    </p:spTree>
    <p:extLst>
      <p:ext uri="{BB962C8B-B14F-4D97-AF65-F5344CB8AC3E}">
        <p14:creationId xmlns:p14="http://schemas.microsoft.com/office/powerpoint/2010/main" val="313808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7C7B-841A-2C3C-1723-B60E0D204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A screenshot of a chat&#10;&#10;AI-generated content may be incorrect.">
            <a:extLst>
              <a:ext uri="{FF2B5EF4-FFF2-40B4-BE49-F238E27FC236}">
                <a16:creationId xmlns:a16="http://schemas.microsoft.com/office/drawing/2014/main" id="{92D842F9-9763-D6FC-1DE0-86D898E095B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26" t="163" b="-163"/>
          <a:stretch>
            <a:fillRect/>
          </a:stretch>
        </p:blipFill>
        <p:spPr>
          <a:xfrm>
            <a:off x="839788" y="817563"/>
            <a:ext cx="5256212" cy="487362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4A2FCE-D549-1E28-62B6-54A8EE8BA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17563"/>
            <a:ext cx="5712790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83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07DB-8E18-22EC-5F43-D375AE3F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(5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87E40-F060-A9D9-8F77-B28E2FAD8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[Work on section 2.3 of the notebook]</a:t>
            </a:r>
            <a:endParaRPr lang="en-US" dirty="0"/>
          </a:p>
          <a:p>
            <a:r>
              <a:rPr lang="en-US" dirty="0"/>
              <a:t>Create IDs for our vocabulary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Sort tokens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Assign each token an ID in sorted order</a:t>
            </a:r>
          </a:p>
          <a:p>
            <a:r>
              <a:rPr lang="en-US" dirty="0"/>
              <a:t>Break down a new piece of text into token IDs</a:t>
            </a:r>
          </a:p>
          <a:p>
            <a:r>
              <a:rPr lang="en-US" dirty="0"/>
              <a:t>Note: Some text will give you a “</a:t>
            </a:r>
            <a:r>
              <a:rPr lang="en-US" dirty="0" err="1"/>
              <a:t>KeyError</a:t>
            </a:r>
            <a:r>
              <a:rPr lang="en-US" dirty="0"/>
              <a:t>” — this means that the token we want is not in the vocabulary. We will look at one way to deal with this in the next section.</a:t>
            </a:r>
          </a:p>
        </p:txBody>
      </p:sp>
    </p:spTree>
    <p:extLst>
      <p:ext uri="{BB962C8B-B14F-4D97-AF65-F5344CB8AC3E}">
        <p14:creationId xmlns:p14="http://schemas.microsoft.com/office/powerpoint/2010/main" val="3385414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2209-5826-72D1-EC27-60B77713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110B0-7823-83A4-9AA1-9703655A3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we want special tokens to represent information that is not directly included in the text data.</a:t>
            </a:r>
          </a:p>
          <a:p>
            <a:pPr lvl="1"/>
            <a:r>
              <a:rPr lang="en-US" dirty="0"/>
              <a:t>Padding tokens, to normalize the length of text batches</a:t>
            </a:r>
          </a:p>
          <a:p>
            <a:pPr lvl="1"/>
            <a:r>
              <a:rPr lang="en-US" dirty="0"/>
              <a:t>Mask tokens, to hide text we don’t want the model to see</a:t>
            </a:r>
          </a:p>
          <a:p>
            <a:pPr lvl="1"/>
            <a:r>
              <a:rPr lang="en-US" dirty="0"/>
              <a:t>Tokens to label start and end of a chat turn for chat-tuned models</a:t>
            </a:r>
          </a:p>
          <a:p>
            <a:pPr lvl="1"/>
            <a:r>
              <a:rPr lang="en-US" b="1" dirty="0"/>
              <a:t>Tokens to label the end of a training document</a:t>
            </a:r>
          </a:p>
          <a:p>
            <a:pPr lvl="1"/>
            <a:r>
              <a:rPr lang="en-US" b="1" dirty="0"/>
              <a:t>Unknown word token we map any word not in vocab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89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B5CE-8327-6782-64C5-9790F507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(5 minutes)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EAF36-D5C7-B584-ADE8-DF364F516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200" y="1969294"/>
            <a:ext cx="6578600" cy="40894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187406-7E81-13FB-9165-1112F3DDE20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37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[Work on section 2.4 of the notebook]</a:t>
            </a:r>
          </a:p>
          <a:p>
            <a:r>
              <a:rPr lang="en-US" dirty="0"/>
              <a:t>Implement &lt;|</a:t>
            </a:r>
            <a:r>
              <a:rPr lang="en-US" dirty="0" err="1"/>
              <a:t>endoftext</a:t>
            </a:r>
            <a:r>
              <a:rPr lang="en-US" dirty="0"/>
              <a:t>|&gt; and &lt;|</a:t>
            </a:r>
            <a:r>
              <a:rPr lang="en-US" dirty="0" err="1"/>
              <a:t>unk</a:t>
            </a:r>
            <a:r>
              <a:rPr lang="en-US" dirty="0"/>
              <a:t>|&gt; special tokens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C5AB2-0867-1B16-9F2C-4629335E30FF}"/>
              </a:ext>
            </a:extLst>
          </p:cNvPr>
          <p:cNvSpPr txBox="1"/>
          <p:nvPr/>
        </p:nvSpPr>
        <p:spPr>
          <a:xfrm>
            <a:off x="2491025" y="5807631"/>
            <a:ext cx="201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(Source: Textbook)</a:t>
            </a:r>
          </a:p>
        </p:txBody>
      </p:sp>
    </p:spTree>
    <p:extLst>
      <p:ext uri="{BB962C8B-B14F-4D97-AF65-F5344CB8AC3E}">
        <p14:creationId xmlns:p14="http://schemas.microsoft.com/office/powerpoint/2010/main" val="1591043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2C3D-73B2-BECC-9953-D23B414B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Pair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7B757-C604-DAB8-DA6C-40C1FCE36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Byte pair encoding </a:t>
            </a:r>
            <a:r>
              <a:rPr lang="en-US" dirty="0"/>
              <a:t>(BPE) is an algorithm to automatically generate tokens from text based on the most common combinations of characters.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Every character/byte starts out as a token. (This also means we won’t need &lt;|</a:t>
            </a:r>
            <a:r>
              <a:rPr lang="en-US" dirty="0" err="1"/>
              <a:t>unk</a:t>
            </a:r>
            <a:r>
              <a:rPr lang="en-US" dirty="0"/>
              <a:t>|&gt; tokens, as everything can be decomposed to bytes.)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 the training data count the frequency of each pair of tokens appearing sequentially. (e.g. (“t”, “h”) pair). Then every time you see this pair, replace it with a single token (“</a:t>
            </a:r>
            <a:r>
              <a:rPr lang="en-US" dirty="0" err="1"/>
              <a:t>th</a:t>
            </a:r>
            <a:r>
              <a:rPr lang="en-US" dirty="0"/>
              <a:t>”).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Repeat until you reach the desired vocabulary size. (“</a:t>
            </a:r>
            <a:r>
              <a:rPr lang="en-US" dirty="0" err="1"/>
              <a:t>th</a:t>
            </a:r>
            <a:r>
              <a:rPr lang="en-US" dirty="0"/>
              <a:t>”, “e”)-&gt;(“the”)</a:t>
            </a:r>
          </a:p>
          <a:p>
            <a:r>
              <a:rPr lang="en-US" dirty="0"/>
              <a:t>This procedure ends up grouping words into a few </a:t>
            </a:r>
            <a:r>
              <a:rPr lang="en-US" dirty="0" err="1"/>
              <a:t>subword</a:t>
            </a:r>
            <a:r>
              <a:rPr lang="en-US" dirty="0"/>
              <a:t> tokens. Commonly used words are their own token.</a:t>
            </a:r>
          </a:p>
        </p:txBody>
      </p:sp>
    </p:spTree>
    <p:extLst>
      <p:ext uri="{BB962C8B-B14F-4D97-AF65-F5344CB8AC3E}">
        <p14:creationId xmlns:p14="http://schemas.microsoft.com/office/powerpoint/2010/main" val="3035079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8B689-55D0-6725-1F65-CF3AAC039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CE8C-61E8-108B-B01F-D054B2725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(5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18FA9-46FC-52D4-4F7E-E1679F0CA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[Work on section 2.5 of the notebook]</a:t>
            </a:r>
            <a:endParaRPr lang="en-US" dirty="0"/>
          </a:p>
          <a:p>
            <a:r>
              <a:rPr lang="en-US" dirty="0"/>
              <a:t>We will not be implementing byte pair encoding ourselves. Instead we will use a library called </a:t>
            </a:r>
            <a:r>
              <a:rPr lang="en-US" i="1" dirty="0" err="1"/>
              <a:t>tiktoken</a:t>
            </a:r>
            <a:r>
              <a:rPr lang="en-US" dirty="0"/>
              <a:t>.</a:t>
            </a:r>
          </a:p>
          <a:p>
            <a:r>
              <a:rPr lang="en-US" dirty="0"/>
              <a:t>Let’s explore GPT-2’s encodings.</a:t>
            </a:r>
          </a:p>
        </p:txBody>
      </p:sp>
    </p:spTree>
    <p:extLst>
      <p:ext uri="{BB962C8B-B14F-4D97-AF65-F5344CB8AC3E}">
        <p14:creationId xmlns:p14="http://schemas.microsoft.com/office/powerpoint/2010/main" val="1405491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4E68-8E5D-47F5-085F-D753B9E7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Data Loader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2F058-82C5-5013-BDCC-2B7731AA2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4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F5C5-C5E0-C643-D055-9986B7A7B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Input-Output Pairs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C67A5A7-DC9A-AE4C-F61C-B5E6D80717B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804" r="-52"/>
          <a:stretch>
            <a:fillRect/>
          </a:stretch>
        </p:blipFill>
        <p:spPr>
          <a:xfrm>
            <a:off x="5183188" y="987425"/>
            <a:ext cx="6172200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6EC3C-ECE6-F153-A8C1-B0A58EAA0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training an LLM, we predict one word at a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highlight>
                  <a:srgbClr val="00FFFF"/>
                </a:highlight>
              </a:rPr>
              <a:t>Input</a:t>
            </a:r>
            <a:r>
              <a:rPr lang="en-US" dirty="0"/>
              <a:t>: Tokens coming before the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0000"/>
                </a:highlight>
              </a:rPr>
              <a:t>Output</a:t>
            </a:r>
            <a:r>
              <a:rPr lang="en-US" dirty="0"/>
              <a:t>: The next word that the LLM should predict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F3F5D-3A3F-FD2C-0D91-A7792908EB46}"/>
              </a:ext>
            </a:extLst>
          </p:cNvPr>
          <p:cNvSpPr txBox="1"/>
          <p:nvPr/>
        </p:nvSpPr>
        <p:spPr>
          <a:xfrm>
            <a:off x="4078525" y="6216134"/>
            <a:ext cx="201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(Source: Textbook)</a:t>
            </a:r>
          </a:p>
        </p:txBody>
      </p:sp>
    </p:spTree>
    <p:extLst>
      <p:ext uri="{BB962C8B-B14F-4D97-AF65-F5344CB8AC3E}">
        <p14:creationId xmlns:p14="http://schemas.microsoft.com/office/powerpoint/2010/main" val="533775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8338-B99D-23B9-B2A7-AD0D449B8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Data Loader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08C13-506D-EEAE-70B9-E3E20CEC7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produce an efficient data loader that takes text and turns it into a </a:t>
            </a:r>
            <a:r>
              <a:rPr lang="en-US" dirty="0" err="1"/>
              <a:t>PyTorch</a:t>
            </a:r>
            <a:r>
              <a:rPr lang="en-US" dirty="0"/>
              <a:t> tensor of inputs and targets.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0FB21-9389-B455-2DA4-5588FC534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39" y="2645444"/>
            <a:ext cx="6133618" cy="340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ADFC75-2FE4-5921-C83C-85E2E5418C8C}"/>
              </a:ext>
            </a:extLst>
          </p:cNvPr>
          <p:cNvSpPr txBox="1"/>
          <p:nvPr/>
        </p:nvSpPr>
        <p:spPr>
          <a:xfrm>
            <a:off x="7531100" y="6123543"/>
            <a:ext cx="201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(Source: Textbook)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00AEE-23B5-927D-4BA8-EABAD8426F1D}"/>
              </a:ext>
            </a:extLst>
          </p:cNvPr>
          <p:cNvSpPr/>
          <p:nvPr/>
        </p:nvSpPr>
        <p:spPr>
          <a:xfrm>
            <a:off x="7962979" y="4679805"/>
            <a:ext cx="416859" cy="250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04F9E3-4E31-C352-E4B2-AD0A7B4D6B83}"/>
              </a:ext>
            </a:extLst>
          </p:cNvPr>
          <p:cNvSpPr/>
          <p:nvPr/>
        </p:nvSpPr>
        <p:spPr>
          <a:xfrm>
            <a:off x="8573997" y="4679804"/>
            <a:ext cx="726141" cy="250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 the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057E1-8716-F13F-5C0E-B8103A465217}"/>
              </a:ext>
            </a:extLst>
          </p:cNvPr>
          <p:cNvSpPr/>
          <p:nvPr/>
        </p:nvSpPr>
        <p:spPr>
          <a:xfrm>
            <a:off x="9327936" y="4534330"/>
            <a:ext cx="647887" cy="411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the heart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92BDFD-B1D3-0E08-E26C-DE6544050A0C}"/>
              </a:ext>
            </a:extLst>
          </p:cNvPr>
          <p:cNvSpPr/>
          <p:nvPr/>
        </p:nvSpPr>
        <p:spPr>
          <a:xfrm>
            <a:off x="10003621" y="4518441"/>
            <a:ext cx="877890" cy="411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 the heart 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E42DD-CE75-973C-4F9C-E9E549765AE8}"/>
              </a:ext>
            </a:extLst>
          </p:cNvPr>
          <p:cNvSpPr txBox="1"/>
          <p:nvPr/>
        </p:nvSpPr>
        <p:spPr>
          <a:xfrm>
            <a:off x="782605" y="2712032"/>
            <a:ext cx="49422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Here we batch every 4 tokens; usually you batch hundreds at once.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sliding window does not cross batch boundaries.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allows parallel computation with minimal overhead.</a:t>
            </a:r>
          </a:p>
        </p:txBody>
      </p:sp>
    </p:spTree>
    <p:extLst>
      <p:ext uri="{BB962C8B-B14F-4D97-AF65-F5344CB8AC3E}">
        <p14:creationId xmlns:p14="http://schemas.microsoft.com/office/powerpoint/2010/main" val="132023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034C-701D-4434-96CB-F8EADF92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(10 min.)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4BF47-6407-F4E7-1B18-85CD15C4A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explore sliding window</a:t>
            </a:r>
          </a:p>
          <a:p>
            <a:r>
              <a:rPr lang="en-US" dirty="0"/>
              <a:t>Then we will implement the Dataset and </a:t>
            </a:r>
            <a:r>
              <a:rPr lang="en-US" dirty="0" err="1"/>
              <a:t>DataLoader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690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00C7-0198-A560-8E6C-159B7239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D2EFC-11D3-693D-BE5F-E2A42B3E5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06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8605-4559-A4E5-D2CE-739B6B21E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Embeddings as a Map from ID to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CC5D7-9F5D-A25E-FA30-4DC1AC4A2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token ID corresponds with an embedding vector.</a:t>
            </a:r>
          </a:p>
          <a:p>
            <a:r>
              <a:rPr lang="en-US" dirty="0"/>
              <a:t>As discussed previously, vectors embed semantic information about tokens’ meaning.</a:t>
            </a:r>
          </a:p>
          <a:p>
            <a:r>
              <a:rPr lang="en-US" dirty="0"/>
              <a:t>Today, we will work with randomized embeddings, focusing only on the lookup portion.</a:t>
            </a:r>
          </a:p>
          <a:p>
            <a:pPr lvl="1"/>
            <a:r>
              <a:rPr lang="en-US" dirty="0"/>
              <a:t>We will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torch.nn.Embedding</a:t>
            </a:r>
            <a:r>
              <a:rPr lang="en-US" dirty="0"/>
              <a:t>.</a:t>
            </a:r>
          </a:p>
          <a:p>
            <a:r>
              <a:rPr lang="en-US" dirty="0"/>
              <a:t>We will train these embeddings at the same time as the main language model in Pretraining (Dongyu – 4/7).</a:t>
            </a:r>
          </a:p>
        </p:txBody>
      </p:sp>
    </p:spTree>
    <p:extLst>
      <p:ext uri="{BB962C8B-B14F-4D97-AF65-F5344CB8AC3E}">
        <p14:creationId xmlns:p14="http://schemas.microsoft.com/office/powerpoint/2010/main" val="1460286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DDB1-770A-D265-515B-2AD0908D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(5 min.)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DECF6-6B0B-D5CB-67B4-75D39BA5B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how embeddings map ID to vector.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7D4E9-26D6-B884-CB79-9F5585803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346" y="2476178"/>
            <a:ext cx="6350000" cy="347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887A0B-4EC4-5BA8-D84F-CD16914ACD43}"/>
              </a:ext>
            </a:extLst>
          </p:cNvPr>
          <p:cNvSpPr txBox="1"/>
          <p:nvPr/>
        </p:nvSpPr>
        <p:spPr>
          <a:xfrm>
            <a:off x="1113608" y="5512473"/>
            <a:ext cx="201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(Source: Textbook)</a:t>
            </a:r>
          </a:p>
        </p:txBody>
      </p:sp>
    </p:spTree>
    <p:extLst>
      <p:ext uri="{BB962C8B-B14F-4D97-AF65-F5344CB8AC3E}">
        <p14:creationId xmlns:p14="http://schemas.microsoft.com/office/powerpoint/2010/main" val="2781425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863F-22E6-5994-39E3-EA60A2D5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Encodings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E1DE-1902-75C8-660D-FB276042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Self-attention (next workshop,  Yue) does not consider position or token order. So we need a way to encode this information in the embedding itself.</a:t>
            </a:r>
          </a:p>
        </p:txBody>
      </p:sp>
    </p:spTree>
    <p:extLst>
      <p:ext uri="{BB962C8B-B14F-4D97-AF65-F5344CB8AC3E}">
        <p14:creationId xmlns:p14="http://schemas.microsoft.com/office/powerpoint/2010/main" val="3608465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8941B-E5A2-CC5D-A29A-06FAA82C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8A70-A697-0F42-ACDD-1DCFBA503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Encodings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F91EE-B5B1-D581-CF34-5937825A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Absolute</a:t>
            </a:r>
            <a:r>
              <a:rPr lang="en-US" dirty="0"/>
              <a:t> positional embeddings include the direct location of the token.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i="1" dirty="0"/>
              <a:t>Relative</a:t>
            </a:r>
            <a:r>
              <a:rPr lang="en-US" dirty="0"/>
              <a:t> positional embeddings encode the relative distance between tokens. This could generalize better.</a:t>
            </a:r>
          </a:p>
          <a:p>
            <a:r>
              <a:rPr lang="en-US" dirty="0"/>
              <a:t>Positional encodings can also be </a:t>
            </a:r>
            <a:r>
              <a:rPr lang="en-US" i="1" dirty="0"/>
              <a:t>trained</a:t>
            </a:r>
            <a:r>
              <a:rPr lang="en-US" dirty="0"/>
              <a:t> during pretraining.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2BD79-110B-40C1-ED72-CB6BD74F7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46" y="2460819"/>
            <a:ext cx="6503654" cy="2184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9CC63E-C404-2CE8-AA5D-0D4D06762A9C}"/>
              </a:ext>
            </a:extLst>
          </p:cNvPr>
          <p:cNvSpPr txBox="1"/>
          <p:nvPr/>
        </p:nvSpPr>
        <p:spPr>
          <a:xfrm>
            <a:off x="2620114" y="4097190"/>
            <a:ext cx="201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(Source: Textbook)</a:t>
            </a:r>
          </a:p>
        </p:txBody>
      </p:sp>
    </p:spTree>
    <p:extLst>
      <p:ext uri="{BB962C8B-B14F-4D97-AF65-F5344CB8AC3E}">
        <p14:creationId xmlns:p14="http://schemas.microsoft.com/office/powerpoint/2010/main" val="27737908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3CCDB-15E9-C81A-9125-CAC6C0C4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Activity (5 min.)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574AE-1ADA-4308-542E-87E1A8C15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6220" cy="4351338"/>
          </a:xfrm>
        </p:spPr>
        <p:txBody>
          <a:bodyPr/>
          <a:lstStyle/>
          <a:p>
            <a:r>
              <a:rPr lang="en-US" dirty="0"/>
              <a:t>Show how input embeddings are a sum of token and positional embeddings.</a:t>
            </a:r>
          </a:p>
          <a:p>
            <a:r>
              <a:rPr lang="en-US" dirty="0"/>
              <a:t>Our positional embeddings are absolute and pretrained (same as GPT)</a:t>
            </a:r>
          </a:p>
        </p:txBody>
      </p:sp>
      <p:pic>
        <p:nvPicPr>
          <p:cNvPr id="4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09D97D59-3A2C-CC56-8E7A-175E217E4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205" y="555372"/>
            <a:ext cx="4807352" cy="56215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336270-62FC-3A1A-5574-8D8214E4B422}"/>
              </a:ext>
            </a:extLst>
          </p:cNvPr>
          <p:cNvSpPr/>
          <p:nvPr/>
        </p:nvSpPr>
        <p:spPr>
          <a:xfrm>
            <a:off x="7037408" y="3183038"/>
            <a:ext cx="4316392" cy="11690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463300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164A-65A0-4FF1-1876-FF40C021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DCB6F-EC95-4AF4-53DB-E9C894594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46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2810</TotalTime>
  <Words>1703</Words>
  <Application>Microsoft Macintosh PowerPoint</Application>
  <PresentationFormat>Widescreen</PresentationFormat>
  <Paragraphs>188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Mallory Medium</vt:lpstr>
      <vt:lpstr>Aptos</vt:lpstr>
      <vt:lpstr>Aptos Display</vt:lpstr>
      <vt:lpstr>Arial</vt:lpstr>
      <vt:lpstr>Cambria Math</vt:lpstr>
      <vt:lpstr>Courier New</vt:lpstr>
      <vt:lpstr>Office Theme</vt:lpstr>
      <vt:lpstr> Building LLMs From Scratch: Workshop 2</vt:lpstr>
      <vt:lpstr>Contents</vt:lpstr>
      <vt:lpstr>Getting Started</vt:lpstr>
      <vt:lpstr>Resources</vt:lpstr>
      <vt:lpstr>Setup: Environment</vt:lpstr>
      <vt:lpstr>Setup: Jupyter Notebook</vt:lpstr>
      <vt:lpstr>Setup: Jupyter Kernels</vt:lpstr>
      <vt:lpstr>Introduction to Embeddings</vt:lpstr>
      <vt:lpstr>Context</vt:lpstr>
      <vt:lpstr>How Do Neural Nets Work?</vt:lpstr>
      <vt:lpstr>Embeddings</vt:lpstr>
      <vt:lpstr>Word Embeddings</vt:lpstr>
      <vt:lpstr>What Is Tokenization?</vt:lpstr>
      <vt:lpstr>Tokenization Example</vt:lpstr>
      <vt:lpstr>Activity (5 minutes)</vt:lpstr>
      <vt:lpstr>Vocabularies and Token IDs</vt:lpstr>
      <vt:lpstr>Token IDs from Vocab</vt:lpstr>
      <vt:lpstr>PowerPoint Presentation</vt:lpstr>
      <vt:lpstr>Activity (5 minutes)</vt:lpstr>
      <vt:lpstr>Special Tokens</vt:lpstr>
      <vt:lpstr>Activity (5 minutes)</vt:lpstr>
      <vt:lpstr>Byte Pair Encoding</vt:lpstr>
      <vt:lpstr>Activity (5 minutes)</vt:lpstr>
      <vt:lpstr>Sliding Window Data Loader</vt:lpstr>
      <vt:lpstr>Input-Output Pairs</vt:lpstr>
      <vt:lpstr>PyTorch Data Loader</vt:lpstr>
      <vt:lpstr>Activity (10 min.)</vt:lpstr>
      <vt:lpstr>Embedding Vectors</vt:lpstr>
      <vt:lpstr>Embeddings as a Map from ID to Vector</vt:lpstr>
      <vt:lpstr>Activity (5 min.)</vt:lpstr>
      <vt:lpstr>Positional Encodings (1/2)</vt:lpstr>
      <vt:lpstr>Positional Encodings (1/2)</vt:lpstr>
      <vt:lpstr>Final Activity (5 min.)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Chen</dc:creator>
  <cp:lastModifiedBy>Jonathan Chen</cp:lastModifiedBy>
  <cp:revision>2</cp:revision>
  <dcterms:created xsi:type="dcterms:W3CDTF">2026-02-16T00:16:52Z</dcterms:created>
  <dcterms:modified xsi:type="dcterms:W3CDTF">2026-02-17T23:07:11Z</dcterms:modified>
</cp:coreProperties>
</file>