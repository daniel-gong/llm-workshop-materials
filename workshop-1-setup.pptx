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74" r:id="rId4"/>
    <p:sldId id="273" r:id="rId5"/>
    <p:sldId id="270" r:id="rId6"/>
    <p:sldId id="257" r:id="rId7"/>
    <p:sldId id="271" r:id="rId8"/>
    <p:sldId id="267" r:id="rId9"/>
    <p:sldId id="275" r:id="rId10"/>
    <p:sldId id="276" r:id="rId11"/>
    <p:sldId id="278" r:id="rId12"/>
    <p:sldId id="280" r:id="rId13"/>
    <p:sldId id="279" r:id="rId14"/>
    <p:sldId id="281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569"/>
    <p:restoredTop sz="96192"/>
  </p:normalViewPr>
  <p:slideViewPr>
    <p:cSldViewPr snapToGrid="0">
      <p:cViewPr varScale="1">
        <p:scale>
          <a:sx n="96" d="100"/>
          <a:sy n="96" d="100"/>
        </p:scale>
        <p:origin x="20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9787-E8D8-E32B-F614-C1E4E4758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8C061-07D5-C13A-E6E0-410C308E70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B2767-F77B-5024-77A4-8664157A4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8424-5345-8C48-9EA9-97C156A1F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F1339-F09F-9819-A833-CA3524678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0DBE8-2125-9E83-8FE5-91F857047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5E46-4400-6645-9F67-E0E41C1F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596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A8A27-550A-BF50-4673-BA926F5A9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00A03-AED3-6999-40A7-36E5FB57C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8B496-F353-D971-2B0D-2560C392B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8424-5345-8C48-9EA9-97C156A1F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498FC-BE2C-65AD-EAE4-5A9E81371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B5BBB1-E21A-7A3E-71C5-42A934671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5E46-4400-6645-9F67-E0E41C1F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51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8F797-1D1C-5EA4-4659-5C05D162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0333F-CE52-EBEF-6E65-10E31AD30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00713-81AF-F381-AD9D-F5F1C6D7A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8424-5345-8C48-9EA9-97C156A1F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E0D1C7-5917-CF7F-8565-60463906D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2E48B-664F-5C1F-DA15-DC0D641D3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5E46-4400-6645-9F67-E0E41C1F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473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46DF3-77E9-DCE5-6F72-1BEAC5AF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E862-F52D-BFE0-4A6A-78646D1435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4C97BA-853C-2231-9AB2-AC39AA911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9E0F93-8EC8-B70F-CFD8-A695E582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8424-5345-8C48-9EA9-97C156A1F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DBE9EE-DA98-9BF6-68CB-B935250CC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5CCC9-E0B9-DBD9-965D-1825C6FE3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5E46-4400-6645-9F67-E0E41C1F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841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3C71D-ABA1-875E-DF15-6FABB07A9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B32F4-C53A-8E79-5758-B93203F79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045CA-EA94-90F0-679D-A230437493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82C2AD-CE5D-DFBC-305E-24556FE99F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1BF0DE-A32C-48C8-9A9E-CB2E63D1BB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67409A-6C29-DD3F-64C4-42740D31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8424-5345-8C48-9EA9-97C156A1F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6ADDCC-D835-A330-0EDE-DDAA90030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88437B-0926-4809-0481-CFD655465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5E46-4400-6645-9F67-E0E41C1F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960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FF148-12A1-AA79-1813-ACB0ED22D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508FBA-49A8-8AB1-F1F3-87F4CD45E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8424-5345-8C48-9EA9-97C156A1F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449774-C5C1-661D-5071-6B906E933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B67BB3-B7DB-4FFF-5361-227271CD0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5E46-4400-6645-9F67-E0E41C1F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597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95C53-AC66-3706-8854-1CB93578F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8424-5345-8C48-9EA9-97C156A1F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3360A-29A5-C5F7-ABA5-4FC0495F9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B1F30-DCAC-3B60-FA1E-DEBDCC17E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5E46-4400-6645-9F67-E0E41C1F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37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3D9F5-1AC6-BE79-BEAB-7642D51E0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F4ADE-5B40-F71E-67FB-3E8AFAFEC8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BA0663-D920-B3BB-5805-1AE673E2A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19986-FCD8-0D21-2507-59D269C77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8424-5345-8C48-9EA9-97C156A1F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74BDD-09E1-FCEA-497F-53108279E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CBC16-8AFA-E16F-5FBB-705C493AD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5E46-4400-6645-9F67-E0E41C1F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97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AC33B-A09B-31EF-D018-E85079C97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C50070-05AE-0586-30BF-0DC95CBF5A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BBB44-491C-82DB-073D-01263C811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F141E8-859B-4195-E9BA-9FF946DFB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8424-5345-8C48-9EA9-97C156A1F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461670-E86A-CE93-EE2E-3A0B0490C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D0BAED-BA32-DF0F-E2D6-466F085F0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5E46-4400-6645-9F67-E0E41C1F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012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15153-589B-8088-1882-A00F8855A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12CA0A-E58E-9DEA-C7CB-E719A7AA8B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4611F-3AB5-428D-451F-05A5C19DF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8424-5345-8C48-9EA9-97C156A1F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41088-6760-07EE-2399-D338CBBE3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96CF3-48E1-7E8D-A848-AD16DFCAB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5E46-4400-6645-9F67-E0E41C1F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21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2426CD-AB5B-AD05-2393-F1E400EF31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5E6BB9-E711-9B9D-E88E-33A87EEA11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B207D-E8B4-F7D3-2340-DA4182EAF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58424-5345-8C48-9EA9-97C156A1F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FD037-9239-A60D-2432-10796B759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F0447-F38D-8DA5-E4EE-96FA5AF35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75E46-4400-6645-9F67-E0E41C1F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276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36AF8-640E-399A-92E1-1862BE81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D961CF-3D81-002E-2CF7-AAC9DAC84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56603-50A2-1389-ABBE-3A2247C4FC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958424-5345-8C48-9EA9-97C156A1FA21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B80E3-1F96-B774-74F0-13BBEF884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B88EF5-C59E-876A-2F2B-E7D2D0D50D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275E46-4400-6645-9F67-E0E41C1FD6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5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rasbt/LLMs-from-scratch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repo.anaconda.com/miniconda/Miniconda3-latest-MacOSX-arm64.sh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 descr="Wu Tsai Institute | Yale University">
            <a:extLst>
              <a:ext uri="{FF2B5EF4-FFF2-40B4-BE49-F238E27FC236}">
                <a16:creationId xmlns:a16="http://schemas.microsoft.com/office/drawing/2014/main" id="{C0891F14-215B-14C5-482A-4C413E449D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824" r="-1" b="-1"/>
          <a:stretch>
            <a:fillRect/>
          </a:stretch>
        </p:blipFill>
        <p:spPr bwMode="auto">
          <a:xfrm>
            <a:off x="-1" y="10"/>
            <a:ext cx="12228129" cy="4666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D4A3AB-2AAA-F2F8-8927-19855865A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5397"/>
            <a:ext cx="9144000" cy="18290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Building LLMs From Scratch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Overview and Setup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890032-086D-9721-E74C-7AAD5D5F30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25217" y="3420072"/>
            <a:ext cx="9541565" cy="1284513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Full-Stack AI Researcher (FAIR) Working Group</a:t>
            </a:r>
          </a:p>
          <a:p>
            <a:r>
              <a:rPr lang="en-US" sz="3200" dirty="0">
                <a:solidFill>
                  <a:schemeClr val="bg1"/>
                </a:solidFill>
              </a:rPr>
              <a:t>Fall 2026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93E239-3170-8A77-5D55-CD73AC292F0F}"/>
              </a:ext>
            </a:extLst>
          </p:cNvPr>
          <p:cNvSpPr txBox="1"/>
          <p:nvPr/>
        </p:nvSpPr>
        <p:spPr>
          <a:xfrm>
            <a:off x="318499" y="5053906"/>
            <a:ext cx="112091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Mallory Medium" panose="02010501030501020304" pitchFamily="2" charset="77"/>
                <a:cs typeface="Mallory Medium" panose="02010501030501020304" pitchFamily="2" charset="77"/>
              </a:rPr>
              <a:t>Center for Neurocomputation and Machine Intelligence</a:t>
            </a:r>
          </a:p>
          <a:p>
            <a:r>
              <a:rPr lang="en-US" sz="2400" dirty="0">
                <a:latin typeface="Mallory Medium" panose="02010501030501020304" pitchFamily="2" charset="77"/>
                <a:cs typeface="Mallory Medium" panose="02010501030501020304" pitchFamily="2" charset="77"/>
              </a:rPr>
              <a:t>Wu Tsai Institute</a:t>
            </a:r>
          </a:p>
          <a:p>
            <a:r>
              <a:rPr lang="en-US" sz="2400" dirty="0">
                <a:latin typeface="Mallory Medium" panose="02010501030501020304" pitchFamily="2" charset="77"/>
                <a:cs typeface="Mallory Medium" panose="02010501030501020304" pitchFamily="2" charset="77"/>
              </a:rPr>
              <a:t>Yale University</a:t>
            </a:r>
          </a:p>
        </p:txBody>
      </p:sp>
    </p:spTree>
    <p:extLst>
      <p:ext uri="{BB962C8B-B14F-4D97-AF65-F5344CB8AC3E}">
        <p14:creationId xmlns:p14="http://schemas.microsoft.com/office/powerpoint/2010/main" val="13386467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7E12F-ECCB-1095-DE4D-3495AF61D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CDEA0-8D74-3B9C-D2C3-18E891287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Overview of LLM coding stages</a:t>
            </a:r>
          </a:p>
          <a:p>
            <a:r>
              <a:rPr lang="en-US" dirty="0"/>
              <a:t>Environment setup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2EFEEE-DB64-E107-2C00-B1EA6A442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857" y="6311900"/>
            <a:ext cx="2173143" cy="5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695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48833-865A-8C6F-FF4A-4CE2EC7C3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LLM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905E7-BB88-63E5-0D60-FA735AA864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3148" cy="4351338"/>
          </a:xfrm>
        </p:spPr>
        <p:txBody>
          <a:bodyPr/>
          <a:lstStyle/>
          <a:p>
            <a:r>
              <a:rPr lang="en-US" dirty="0"/>
              <a:t>Deep neural network designed to understand, generate, and respond to human-like text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EDC9D4-0B70-6E9A-85DC-21F0D60C2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857" y="6311900"/>
            <a:ext cx="2173143" cy="55935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5443D42-11EF-B5BA-1C3D-AF36DE3E9F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333" y="1483966"/>
            <a:ext cx="4973481" cy="357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031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ADF03-FC97-E314-B1ED-88C56091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build LLM from ground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9965D-12E1-32F7-A966-979BF376F4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Excellent exercise to understand LLMs</a:t>
            </a:r>
          </a:p>
          <a:p>
            <a:r>
              <a:rPr lang="en-US" dirty="0"/>
              <a:t>Gain knowledge to pre-train and fine-tune open-source LLMs</a:t>
            </a:r>
          </a:p>
          <a:p>
            <a:r>
              <a:rPr lang="en-US" dirty="0"/>
              <a:t>Custom LLMs provide multiple advantages </a:t>
            </a:r>
          </a:p>
          <a:p>
            <a:pPr lvl="1"/>
            <a:r>
              <a:rPr lang="en-US" dirty="0"/>
              <a:t>Better performance for specific tasks or domains</a:t>
            </a:r>
          </a:p>
          <a:p>
            <a:pPr lvl="1"/>
            <a:r>
              <a:rPr lang="en-US" dirty="0"/>
              <a:t>Secure, compliant handling of sensitive data</a:t>
            </a:r>
          </a:p>
          <a:p>
            <a:pPr lvl="1"/>
            <a:r>
              <a:rPr lang="en-US" dirty="0"/>
              <a:t>Local deployment on personal devices</a:t>
            </a:r>
          </a:p>
          <a:p>
            <a:pPr lvl="1"/>
            <a:r>
              <a:rPr lang="en-US" dirty="0"/>
              <a:t>Complete control over your model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6F0C31-3AD1-9204-AF27-A77DD5756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857" y="6311900"/>
            <a:ext cx="2173143" cy="5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471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4927-2C3E-071B-45B4-BE5AC2DBD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coding stages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E2AB8-EA7E-8D5D-1CDC-78D54FE26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Stage 1: Implement the LLM architecture</a:t>
            </a:r>
          </a:p>
          <a:p>
            <a:pPr lvl="1"/>
            <a:r>
              <a:rPr lang="en-US" dirty="0"/>
              <a:t>Embeddings</a:t>
            </a:r>
          </a:p>
          <a:p>
            <a:pPr lvl="1"/>
            <a:r>
              <a:rPr lang="en-US" dirty="0"/>
              <a:t>attention mechanism</a:t>
            </a:r>
          </a:p>
          <a:p>
            <a:pPr lvl="1"/>
            <a:r>
              <a:rPr lang="en-US" dirty="0"/>
              <a:t>transformer blocks</a:t>
            </a:r>
            <a:endParaRPr lang="en-US" b="1" dirty="0"/>
          </a:p>
          <a:p>
            <a:r>
              <a:rPr lang="en-US" dirty="0"/>
              <a:t>Stage 2: </a:t>
            </a:r>
            <a:r>
              <a:rPr lang="en-US" b="1" dirty="0"/>
              <a:t>Pre-training</a:t>
            </a:r>
            <a:r>
              <a:rPr lang="en-US" dirty="0"/>
              <a:t>: train the LLM on a large set of text data (raw, unlabeled) to generate a </a:t>
            </a:r>
            <a:r>
              <a:rPr lang="en-US" b="1" dirty="0"/>
              <a:t>foundation model </a:t>
            </a:r>
          </a:p>
          <a:p>
            <a:r>
              <a:rPr lang="en-US" dirty="0"/>
              <a:t>Stage 3: </a:t>
            </a:r>
            <a:r>
              <a:rPr lang="en-US" b="1" dirty="0"/>
              <a:t>Fine-tuning</a:t>
            </a:r>
            <a:r>
              <a:rPr lang="en-US" dirty="0"/>
              <a:t>: fine-tune the foundation model on </a:t>
            </a:r>
            <a:r>
              <a:rPr lang="en-US" b="1" dirty="0"/>
              <a:t>labeled dataset</a:t>
            </a:r>
            <a:r>
              <a:rPr lang="en-US" dirty="0"/>
              <a:t> for specific tasks or domains</a:t>
            </a:r>
            <a:endParaRPr lang="en-US" b="1" dirty="0"/>
          </a:p>
          <a:p>
            <a:pPr lvl="1"/>
            <a:r>
              <a:rPr lang="en-US" b="1" dirty="0"/>
              <a:t>Instruction fine-tuning</a:t>
            </a:r>
            <a:r>
              <a:rPr lang="en-US" dirty="0"/>
              <a:t>: teach the model how to respond to instructions</a:t>
            </a:r>
          </a:p>
          <a:p>
            <a:pPr lvl="1"/>
            <a:r>
              <a:rPr lang="en-US" b="1" dirty="0"/>
              <a:t>Classification fine-tuning</a:t>
            </a:r>
            <a:r>
              <a:rPr lang="en-US" dirty="0"/>
              <a:t>: teach the model how to label inputs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945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75D5-9ED2-5336-9728-0E21AB806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coding stages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3FF5AD-C4E3-FF07-D258-97A2F81DF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857" y="6311900"/>
            <a:ext cx="2173143" cy="5593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F14866-DDAA-5672-4509-D27FCA2E1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2076" y="1442397"/>
            <a:ext cx="8107847" cy="451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87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75D5-9ED2-5336-9728-0E21AB806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Timeline of study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F3FF5AD-C4E3-FF07-D258-97A2F81DF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857" y="6311900"/>
            <a:ext cx="2173143" cy="5593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F14866-DDAA-5672-4509-D27FCA2E1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085" y="1691130"/>
            <a:ext cx="8107847" cy="4510841"/>
          </a:xfrm>
          <a:prstGeom prst="rect">
            <a:avLst/>
          </a:prstGeom>
        </p:spPr>
      </p:pic>
      <p:cxnSp>
        <p:nvCxnSpPr>
          <p:cNvPr id="8" name="Curved Connector 7">
            <a:extLst>
              <a:ext uri="{FF2B5EF4-FFF2-40B4-BE49-F238E27FC236}">
                <a16:creationId xmlns:a16="http://schemas.microsoft.com/office/drawing/2014/main" id="{532F5232-0AC7-7BD1-D196-1DB380C197E2}"/>
              </a:ext>
            </a:extLst>
          </p:cNvPr>
          <p:cNvCxnSpPr/>
          <p:nvPr/>
        </p:nvCxnSpPr>
        <p:spPr>
          <a:xfrm>
            <a:off x="1969513" y="2783400"/>
            <a:ext cx="596348" cy="49033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89E6826-970C-48EA-1BBA-C5F3D98FB14A}"/>
              </a:ext>
            </a:extLst>
          </p:cNvPr>
          <p:cNvSpPr txBox="1"/>
          <p:nvPr/>
        </p:nvSpPr>
        <p:spPr>
          <a:xfrm>
            <a:off x="905597" y="2231627"/>
            <a:ext cx="12987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Feb 17</a:t>
            </a:r>
            <a:r>
              <a:rPr lang="en-US" dirty="0">
                <a:solidFill>
                  <a:schemeClr val="accent5"/>
                </a:solidFill>
              </a:rPr>
              <a:t>: working with text data</a:t>
            </a:r>
          </a:p>
        </p:txBody>
      </p:sp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F68222DC-7001-A406-B031-7EAE9E4F6246}"/>
              </a:ext>
            </a:extLst>
          </p:cNvPr>
          <p:cNvCxnSpPr>
            <a:cxnSpLocks/>
          </p:cNvCxnSpPr>
          <p:nvPr/>
        </p:nvCxnSpPr>
        <p:spPr>
          <a:xfrm rot="16200000" flipH="1">
            <a:off x="2891789" y="2500562"/>
            <a:ext cx="659270" cy="39673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4D2C173-4789-A6E9-F5E8-3FE270DAF48A}"/>
              </a:ext>
            </a:extLst>
          </p:cNvPr>
          <p:cNvSpPr txBox="1"/>
          <p:nvPr/>
        </p:nvSpPr>
        <p:spPr>
          <a:xfrm>
            <a:off x="1987878" y="1521387"/>
            <a:ext cx="18379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Mar 3</a:t>
            </a:r>
            <a:r>
              <a:rPr lang="en-US" dirty="0">
                <a:solidFill>
                  <a:schemeClr val="accent5"/>
                </a:solidFill>
              </a:rPr>
              <a:t>: </a:t>
            </a:r>
          </a:p>
          <a:p>
            <a:r>
              <a:rPr lang="en-US" dirty="0">
                <a:solidFill>
                  <a:schemeClr val="accent5"/>
                </a:solidFill>
              </a:rPr>
              <a:t>coding attention mechanism</a:t>
            </a:r>
          </a:p>
        </p:txBody>
      </p:sp>
      <p:cxnSp>
        <p:nvCxnSpPr>
          <p:cNvPr id="13" name="Curved Connector 12">
            <a:extLst>
              <a:ext uri="{FF2B5EF4-FFF2-40B4-BE49-F238E27FC236}">
                <a16:creationId xmlns:a16="http://schemas.microsoft.com/office/drawing/2014/main" id="{2C53C991-7C1D-D361-5A23-3FBB324FFABC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13502" y="2516714"/>
            <a:ext cx="659271" cy="54996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04270F5-D960-E54B-2510-BF7D90CA59B4}"/>
              </a:ext>
            </a:extLst>
          </p:cNvPr>
          <p:cNvSpPr txBox="1"/>
          <p:nvPr/>
        </p:nvSpPr>
        <p:spPr>
          <a:xfrm>
            <a:off x="3812805" y="1426088"/>
            <a:ext cx="22383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5"/>
                </a:solidFill>
              </a:rPr>
              <a:t>Mar 24</a:t>
            </a:r>
            <a:r>
              <a:rPr lang="en-US" dirty="0">
                <a:solidFill>
                  <a:schemeClr val="accent5"/>
                </a:solidFill>
              </a:rPr>
              <a:t>: implementing a GPT model from scratch to generate text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85B6E88-D93D-AF4A-9171-FF1635AF316C}"/>
              </a:ext>
            </a:extLst>
          </p:cNvPr>
          <p:cNvSpPr txBox="1"/>
          <p:nvPr/>
        </p:nvSpPr>
        <p:spPr>
          <a:xfrm>
            <a:off x="5697886" y="2460234"/>
            <a:ext cx="22412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Apr 7</a:t>
            </a:r>
            <a:r>
              <a:rPr lang="en-US" dirty="0">
                <a:solidFill>
                  <a:srgbClr val="FF0000"/>
                </a:solidFill>
              </a:rPr>
              <a:t>: pretraining on unlabeled data 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FE64BED-7A98-A40F-3366-036C93E4A74D}"/>
              </a:ext>
            </a:extLst>
          </p:cNvPr>
          <p:cNvSpPr/>
          <p:nvPr/>
        </p:nvSpPr>
        <p:spPr>
          <a:xfrm>
            <a:off x="5815622" y="3028565"/>
            <a:ext cx="689112" cy="546652"/>
          </a:xfrm>
          <a:prstGeom prst="roundRect">
            <a:avLst/>
          </a:prstGeom>
          <a:solidFill>
            <a:srgbClr val="FF0000">
              <a:alpha val="3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93FF63DA-A9C0-19F3-1755-1A02BAC6C9F0}"/>
              </a:ext>
            </a:extLst>
          </p:cNvPr>
          <p:cNvSpPr/>
          <p:nvPr/>
        </p:nvSpPr>
        <p:spPr>
          <a:xfrm>
            <a:off x="6565764" y="3026967"/>
            <a:ext cx="648630" cy="546652"/>
          </a:xfrm>
          <a:prstGeom prst="roundRect">
            <a:avLst/>
          </a:prstGeom>
          <a:solidFill>
            <a:srgbClr val="FF0000">
              <a:alpha val="3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6BB552E0-16F9-F593-A28C-B12ADEE72F9F}"/>
              </a:ext>
            </a:extLst>
          </p:cNvPr>
          <p:cNvSpPr/>
          <p:nvPr/>
        </p:nvSpPr>
        <p:spPr>
          <a:xfrm>
            <a:off x="7319810" y="3034399"/>
            <a:ext cx="689112" cy="546652"/>
          </a:xfrm>
          <a:prstGeom prst="roundRect">
            <a:avLst/>
          </a:prstGeom>
          <a:solidFill>
            <a:srgbClr val="FF0000">
              <a:alpha val="3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672F66E1-ED98-F0FA-F327-6A6B5F177409}"/>
              </a:ext>
            </a:extLst>
          </p:cNvPr>
          <p:cNvSpPr/>
          <p:nvPr/>
        </p:nvSpPr>
        <p:spPr>
          <a:xfrm>
            <a:off x="4969488" y="3806205"/>
            <a:ext cx="762004" cy="222899"/>
          </a:xfrm>
          <a:prstGeom prst="roundRect">
            <a:avLst/>
          </a:prstGeom>
          <a:solidFill>
            <a:srgbClr val="FF0000">
              <a:alpha val="37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CEF8D90-38A8-7C08-23EB-FDF383899C63}"/>
              </a:ext>
            </a:extLst>
          </p:cNvPr>
          <p:cNvSpPr/>
          <p:nvPr/>
        </p:nvSpPr>
        <p:spPr>
          <a:xfrm>
            <a:off x="8069828" y="3281343"/>
            <a:ext cx="762004" cy="222899"/>
          </a:xfrm>
          <a:prstGeom prst="roundRect">
            <a:avLst/>
          </a:prstGeom>
          <a:solidFill>
            <a:schemeClr val="accent3">
              <a:lumMod val="20000"/>
              <a:lumOff val="80000"/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61555256-F5F5-55EE-99B3-32F11E1718D4}"/>
              </a:ext>
            </a:extLst>
          </p:cNvPr>
          <p:cNvSpPr/>
          <p:nvPr/>
        </p:nvSpPr>
        <p:spPr>
          <a:xfrm>
            <a:off x="8947181" y="2957792"/>
            <a:ext cx="1397706" cy="289434"/>
          </a:xfrm>
          <a:prstGeom prst="roundRect">
            <a:avLst/>
          </a:prstGeom>
          <a:solidFill>
            <a:schemeClr val="accent3">
              <a:lumMod val="20000"/>
              <a:lumOff val="80000"/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5DF70D-60CB-5640-00F8-B0A0DFA4A259}"/>
              </a:ext>
            </a:extLst>
          </p:cNvPr>
          <p:cNvSpPr txBox="1"/>
          <p:nvPr/>
        </p:nvSpPr>
        <p:spPr>
          <a:xfrm>
            <a:off x="9183564" y="2145363"/>
            <a:ext cx="2495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Apr 21</a:t>
            </a:r>
            <a:r>
              <a:rPr lang="en-US" dirty="0">
                <a:solidFill>
                  <a:schemeClr val="accent6"/>
                </a:solidFill>
              </a:rPr>
              <a:t>: fine-tuning on classification dataset 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D5FA5637-8AFE-7FCE-8BE9-0F00CD5CC0D1}"/>
              </a:ext>
            </a:extLst>
          </p:cNvPr>
          <p:cNvSpPr/>
          <p:nvPr/>
        </p:nvSpPr>
        <p:spPr>
          <a:xfrm>
            <a:off x="2566500" y="3038903"/>
            <a:ext cx="747723" cy="546652"/>
          </a:xfrm>
          <a:prstGeom prst="roundRect">
            <a:avLst/>
          </a:prstGeom>
          <a:solidFill>
            <a:schemeClr val="accent5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C9E9D0A9-6D0F-B5EB-389C-5E1F1E63AEBB}"/>
              </a:ext>
            </a:extLst>
          </p:cNvPr>
          <p:cNvSpPr/>
          <p:nvPr/>
        </p:nvSpPr>
        <p:spPr>
          <a:xfrm>
            <a:off x="3481284" y="3028565"/>
            <a:ext cx="763858" cy="546652"/>
          </a:xfrm>
          <a:prstGeom prst="roundRect">
            <a:avLst/>
          </a:prstGeom>
          <a:solidFill>
            <a:schemeClr val="accent5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75FA18F2-A4C8-9DA9-121F-F780980C018C}"/>
              </a:ext>
            </a:extLst>
          </p:cNvPr>
          <p:cNvSpPr/>
          <p:nvPr/>
        </p:nvSpPr>
        <p:spPr>
          <a:xfrm>
            <a:off x="4365244" y="3029762"/>
            <a:ext cx="771539" cy="546652"/>
          </a:xfrm>
          <a:prstGeom prst="roundRect">
            <a:avLst/>
          </a:prstGeom>
          <a:solidFill>
            <a:schemeClr val="accent5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E675B0B-2811-BBF1-946C-17652095D614}"/>
              </a:ext>
            </a:extLst>
          </p:cNvPr>
          <p:cNvSpPr/>
          <p:nvPr/>
        </p:nvSpPr>
        <p:spPr>
          <a:xfrm>
            <a:off x="8049280" y="4714852"/>
            <a:ext cx="762004" cy="222899"/>
          </a:xfrm>
          <a:prstGeom prst="roundRect">
            <a:avLst/>
          </a:prstGeom>
          <a:solidFill>
            <a:schemeClr val="accent2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96ED234B-14C2-15AF-A888-D7E0088E66C1}"/>
              </a:ext>
            </a:extLst>
          </p:cNvPr>
          <p:cNvSpPr/>
          <p:nvPr/>
        </p:nvSpPr>
        <p:spPr>
          <a:xfrm>
            <a:off x="9033535" y="4927477"/>
            <a:ext cx="1397706" cy="289434"/>
          </a:xfrm>
          <a:prstGeom prst="roundRect">
            <a:avLst/>
          </a:prstGeom>
          <a:solidFill>
            <a:schemeClr val="accent2">
              <a:alpha val="3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E87B3D-50A1-BFF9-E9F8-AC705461324A}"/>
              </a:ext>
            </a:extLst>
          </p:cNvPr>
          <p:cNvSpPr txBox="1"/>
          <p:nvPr/>
        </p:nvSpPr>
        <p:spPr>
          <a:xfrm>
            <a:off x="9293271" y="5226100"/>
            <a:ext cx="2339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May 5</a:t>
            </a:r>
            <a:r>
              <a:rPr lang="en-US" dirty="0">
                <a:solidFill>
                  <a:schemeClr val="accent2"/>
                </a:solidFill>
              </a:rPr>
              <a:t>: fine-tuning on instruction dataset </a:t>
            </a:r>
          </a:p>
        </p:txBody>
      </p:sp>
    </p:spTree>
    <p:extLst>
      <p:ext uri="{BB962C8B-B14F-4D97-AF65-F5344CB8AC3E}">
        <p14:creationId xmlns:p14="http://schemas.microsoft.com/office/powerpoint/2010/main" val="1361466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C1FB-ECD1-ABCC-812D-6208097C2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4DED6-2990-478B-246F-AE50D368D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Local computer</a:t>
            </a:r>
          </a:p>
          <a:p>
            <a:pPr lvl="1"/>
            <a:r>
              <a:rPr lang="en-US" dirty="0"/>
              <a:t>Virtual environment for Python</a:t>
            </a:r>
          </a:p>
          <a:p>
            <a:pPr lvl="1"/>
            <a:r>
              <a:rPr lang="en-US" dirty="0" err="1"/>
              <a:t>Conda</a:t>
            </a:r>
            <a:r>
              <a:rPr lang="en-US" dirty="0"/>
              <a:t> environment</a:t>
            </a:r>
          </a:p>
          <a:p>
            <a:r>
              <a:rPr lang="en-US" dirty="0" err="1"/>
              <a:t>VSCode</a:t>
            </a:r>
            <a:endParaRPr lang="en-US" dirty="0"/>
          </a:p>
          <a:p>
            <a:r>
              <a:rPr lang="en-US" dirty="0" err="1"/>
              <a:t>Jupyter</a:t>
            </a:r>
            <a:endParaRPr lang="en-US" dirty="0"/>
          </a:p>
          <a:p>
            <a:r>
              <a:rPr lang="en-US" dirty="0"/>
              <a:t>HPC cluster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5B075E-FE3C-518D-DDDA-193B0EB88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857" y="6311900"/>
            <a:ext cx="2173143" cy="5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734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71655-5F79-57CF-9FD2-1AEC0735D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environment on local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434D92-DDFE-C545-691F-ED9B5BED3739}"/>
              </a:ext>
            </a:extLst>
          </p:cNvPr>
          <p:cNvSpPr txBox="1"/>
          <p:nvPr/>
        </p:nvSpPr>
        <p:spPr>
          <a:xfrm>
            <a:off x="1524001" y="2340522"/>
            <a:ext cx="860066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git clone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  <a:hlinkClick r:id="rId2"/>
              </a:rPr>
              <a:t>https://github.com/rasbt/LLMs-from-scratch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python –m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venv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llms-venv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source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llms-venv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/bin/activate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pip install -r LLMs-from-scratch/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requirements.txt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CF043E-DB59-D1EA-8F13-92D80F1A0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857" y="6311900"/>
            <a:ext cx="2173143" cy="5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793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6C350-8180-0579-5818-829C7DFAA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Conda</a:t>
            </a:r>
            <a:r>
              <a:rPr lang="en-US" dirty="0"/>
              <a:t> environment on local machine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6407D-98AB-9FD2-E35E-181D7C127D78}"/>
              </a:ext>
            </a:extLst>
          </p:cNvPr>
          <p:cNvSpPr txBox="1"/>
          <p:nvPr/>
        </p:nvSpPr>
        <p:spPr>
          <a:xfrm>
            <a:off x="967408" y="1690688"/>
            <a:ext cx="9780105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mkdir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$HOME/FAIR/miniconda3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curl 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  <a:hlinkClick r:id="rId2"/>
              </a:rPr>
              <a:t>https://repo.anaconda.com/miniconda/Miniconda3-latest-MacOSX-arm64.sh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\  -o $HOME/FAIR/miniconda3/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miniconda.sh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cd $HOME/FAIR/miniconda3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chmod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755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miniconda.sh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./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miniconda.sh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-b -u -p .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export PATH=$HOME/FAIR/miniconda3/bin:$PATH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# you can run ‘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conda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init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’ to initialize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conda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in .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bashrc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. 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source $HOME/FAIR/miniconda3/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etc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profile.d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conda.sh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conda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create -p $HOME/FAIR/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llms_env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python=3.10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conda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activate $HOME/FAIR/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llms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_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env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pip install -r LLMs-from-scratch/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requirements.tx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84A223-9911-0B26-8544-7086D69B3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857" y="6311900"/>
            <a:ext cx="2173143" cy="5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984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396AC-1D2A-BF6C-509B-7551C2BC1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VSCode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3A7708-5E4C-5CE2-A5C7-874D8962F4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Install extensions</a:t>
            </a:r>
          </a:p>
          <a:p>
            <a:r>
              <a:rPr lang="en-US" dirty="0"/>
              <a:t>Specify python</a:t>
            </a:r>
          </a:p>
          <a:p>
            <a:pPr lvl="1"/>
            <a:r>
              <a:rPr lang="en-US" dirty="0"/>
              <a:t>Open command palette</a:t>
            </a:r>
          </a:p>
          <a:p>
            <a:pPr lvl="1"/>
            <a:r>
              <a:rPr lang="en-US" dirty="0"/>
              <a:t>Search “Python: Select Interpreter”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D8414C6-4C53-287F-69BA-15057C400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857" y="6311900"/>
            <a:ext cx="2173143" cy="5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0758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7AFB3-B07E-D993-7CB7-12F866BB4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26F9C1-B418-A63F-36F3-CB5D01C90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765" y="2798402"/>
            <a:ext cx="6298096" cy="34433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62FAC0-E6C2-1245-C617-7CA53A4496DE}"/>
              </a:ext>
            </a:extLst>
          </p:cNvPr>
          <p:cNvSpPr txBox="1"/>
          <p:nvPr/>
        </p:nvSpPr>
        <p:spPr>
          <a:xfrm>
            <a:off x="1417983" y="187521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jupyter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lab</a:t>
            </a:r>
          </a:p>
        </p:txBody>
      </p:sp>
    </p:spTree>
    <p:extLst>
      <p:ext uri="{BB962C8B-B14F-4D97-AF65-F5344CB8AC3E}">
        <p14:creationId xmlns:p14="http://schemas.microsoft.com/office/powerpoint/2010/main" val="6638829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E78B3-F036-64E7-49C0-250D7B30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HPC Cluster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42930-13BA-CA8E-78B3-194D3C7D5A94}"/>
              </a:ext>
            </a:extLst>
          </p:cNvPr>
          <p:cNvSpPr txBox="1"/>
          <p:nvPr/>
        </p:nvSpPr>
        <p:spPr>
          <a:xfrm>
            <a:off x="2199860" y="2757316"/>
            <a:ext cx="818984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salloc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-n 1 -c 2 --mem=30g -p day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module load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miniconda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conda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create -p $(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pwd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)/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llms_env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python=3.10</a:t>
            </a:r>
          </a:p>
          <a:p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conda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activate /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gpfs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radev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/home/pl543/FAIR/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llms_env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git clone https://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github.com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rasbt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/LLMs-from-scratch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pip install -r LLMs-from-scratch/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requirements.txt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</a:t>
            </a:r>
          </a:p>
          <a:p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24473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D3512-CA13-A56C-03DF-0FEE8A785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F0EAA-6ED0-351F-2C1D-41E71D185D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CECE4F-3961-F12C-1EFF-DC6852FC0A5C}"/>
              </a:ext>
            </a:extLst>
          </p:cNvPr>
          <p:cNvSpPr txBox="1"/>
          <p:nvPr/>
        </p:nvSpPr>
        <p:spPr>
          <a:xfrm>
            <a:off x="838199" y="3059668"/>
            <a:ext cx="106514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https://</a:t>
            </a:r>
            <a:r>
              <a:rPr lang="en-US" sz="4000" dirty="0" err="1"/>
              <a:t>github.com</a:t>
            </a:r>
            <a:r>
              <a:rPr lang="en-US" sz="4000" dirty="0"/>
              <a:t>/Daniel-Gong/LLM-Workshop-Materials</a:t>
            </a:r>
          </a:p>
        </p:txBody>
      </p:sp>
    </p:spTree>
    <p:extLst>
      <p:ext uri="{BB962C8B-B14F-4D97-AF65-F5344CB8AC3E}">
        <p14:creationId xmlns:p14="http://schemas.microsoft.com/office/powerpoint/2010/main" val="481527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9581D-4F0A-4977-344B-C5198EC8E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8661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Q&amp;A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1BE6F0-BEAB-9DC0-17C0-1DF1D1846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8857" y="6311900"/>
            <a:ext cx="2173143" cy="559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969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2401</TotalTime>
  <Words>520</Words>
  <Application>Microsoft Macintosh PowerPoint</Application>
  <PresentationFormat>Widescreen</PresentationFormat>
  <Paragraphs>78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Mallory Medium</vt:lpstr>
      <vt:lpstr>Menlo</vt:lpstr>
      <vt:lpstr>Office Theme</vt:lpstr>
      <vt:lpstr>Building LLMs From Scratch Overview and Setup</vt:lpstr>
      <vt:lpstr>Outline</vt:lpstr>
      <vt:lpstr>What is LLM</vt:lpstr>
      <vt:lpstr>Why build LLM from ground up</vt:lpstr>
      <vt:lpstr>Three coding stages</vt:lpstr>
      <vt:lpstr>Three coding stages</vt:lpstr>
      <vt:lpstr>Timeline of study</vt:lpstr>
      <vt:lpstr>Environment Setup</vt:lpstr>
      <vt:lpstr>Virtual environment on local machine</vt:lpstr>
      <vt:lpstr>Conda environment on local machine</vt:lpstr>
      <vt:lpstr>VSCode</vt:lpstr>
      <vt:lpstr>Jupyter</vt:lpstr>
      <vt:lpstr>HPC Cluster</vt:lpstr>
      <vt:lpstr>PowerPoint Presentation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LLMs From Scratch</dc:title>
  <dc:creator>Luo, Ping</dc:creator>
  <cp:lastModifiedBy>Luo, Ping</cp:lastModifiedBy>
  <cp:revision>28</cp:revision>
  <dcterms:created xsi:type="dcterms:W3CDTF">2026-02-01T18:27:05Z</dcterms:created>
  <dcterms:modified xsi:type="dcterms:W3CDTF">2026-02-04T01:03:49Z</dcterms:modified>
</cp:coreProperties>
</file>